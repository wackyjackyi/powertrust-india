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9E7"/>
    <a:srgbClr val="00D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394B62-163C-4F1B-898C-469B1A573CB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C60984-7557-499B-96E9-4374F5D02358}">
      <dgm:prSet/>
      <dgm:spPr/>
      <dgm:t>
        <a:bodyPr/>
        <a:lstStyle/>
        <a:p>
          <a:r>
            <a:rPr lang="en-CA"/>
            <a:t>Distributed solar</a:t>
          </a:r>
          <a:endParaRPr lang="en-US"/>
        </a:p>
      </dgm:t>
    </dgm:pt>
    <dgm:pt modelId="{6666AB5C-7F1C-4664-B2A7-E0DF1CA3B3BF}" type="parTrans" cxnId="{F99E7BB3-084D-41EA-9BB0-F2C181E12DD0}">
      <dgm:prSet/>
      <dgm:spPr/>
      <dgm:t>
        <a:bodyPr/>
        <a:lstStyle/>
        <a:p>
          <a:endParaRPr lang="en-US"/>
        </a:p>
      </dgm:t>
    </dgm:pt>
    <dgm:pt modelId="{7E421A6D-1618-4968-9258-FC138856B370}" type="sibTrans" cxnId="{F99E7BB3-084D-41EA-9BB0-F2C181E12DD0}">
      <dgm:prSet/>
      <dgm:spPr/>
      <dgm:t>
        <a:bodyPr/>
        <a:lstStyle/>
        <a:p>
          <a:endParaRPr lang="en-US"/>
        </a:p>
      </dgm:t>
    </dgm:pt>
    <dgm:pt modelId="{7E51ACC3-90E3-4244-BE97-34F64FAF8380}">
      <dgm:prSet/>
      <dgm:spPr/>
      <dgm:t>
        <a:bodyPr/>
        <a:lstStyle/>
        <a:p>
          <a:r>
            <a:rPr lang="en-CA"/>
            <a:t>Renewable Energy Certificates (RECs)</a:t>
          </a:r>
          <a:endParaRPr lang="en-US"/>
        </a:p>
      </dgm:t>
    </dgm:pt>
    <dgm:pt modelId="{B91CCD69-EC64-482E-B805-CC412952A61F}" type="parTrans" cxnId="{252D12BE-C828-4F19-B9BA-4267905E7012}">
      <dgm:prSet/>
      <dgm:spPr/>
      <dgm:t>
        <a:bodyPr/>
        <a:lstStyle/>
        <a:p>
          <a:endParaRPr lang="en-US"/>
        </a:p>
      </dgm:t>
    </dgm:pt>
    <dgm:pt modelId="{72BB8FE8-1C32-43C6-8AE3-37D329492DED}" type="sibTrans" cxnId="{252D12BE-C828-4F19-B9BA-4267905E7012}">
      <dgm:prSet/>
      <dgm:spPr/>
      <dgm:t>
        <a:bodyPr/>
        <a:lstStyle/>
        <a:p>
          <a:endParaRPr lang="en-US"/>
        </a:p>
      </dgm:t>
    </dgm:pt>
    <dgm:pt modelId="{F6CE9E3D-7915-4427-A42F-94072D187749}">
      <dgm:prSet/>
      <dgm:spPr/>
      <dgm:t>
        <a:bodyPr/>
        <a:lstStyle/>
        <a:p>
          <a:r>
            <a:rPr lang="en-CA"/>
            <a:t>Three key parties:</a:t>
          </a:r>
          <a:endParaRPr lang="en-US"/>
        </a:p>
      </dgm:t>
    </dgm:pt>
    <dgm:pt modelId="{700B69D0-FC0C-422D-A8AD-AA1A9C8D39FE}" type="parTrans" cxnId="{A683AC7E-ED84-4209-B3FC-552F0EA60D60}">
      <dgm:prSet/>
      <dgm:spPr/>
      <dgm:t>
        <a:bodyPr/>
        <a:lstStyle/>
        <a:p>
          <a:endParaRPr lang="en-US"/>
        </a:p>
      </dgm:t>
    </dgm:pt>
    <dgm:pt modelId="{8E4E0CC2-3A67-4378-8951-7730399F316C}" type="sibTrans" cxnId="{A683AC7E-ED84-4209-B3FC-552F0EA60D60}">
      <dgm:prSet/>
      <dgm:spPr/>
      <dgm:t>
        <a:bodyPr/>
        <a:lstStyle/>
        <a:p>
          <a:endParaRPr lang="en-US"/>
        </a:p>
      </dgm:t>
    </dgm:pt>
    <dgm:pt modelId="{720CFDAD-EE84-4D05-89DD-FDF2F69AEF39}">
      <dgm:prSet/>
      <dgm:spPr/>
      <dgm:t>
        <a:bodyPr/>
        <a:lstStyle/>
        <a:p>
          <a:r>
            <a:rPr lang="en-CA"/>
            <a:t>SOLAR DEVELOPERS: Generate clean energy, get paid.</a:t>
          </a:r>
          <a:endParaRPr lang="en-US"/>
        </a:p>
      </dgm:t>
    </dgm:pt>
    <dgm:pt modelId="{96C6830F-0C49-49EF-BA78-41FD858E8BA3}" type="parTrans" cxnId="{C188798A-9611-4FFD-8D28-8C3DD65CF9B2}">
      <dgm:prSet/>
      <dgm:spPr/>
      <dgm:t>
        <a:bodyPr/>
        <a:lstStyle/>
        <a:p>
          <a:endParaRPr lang="en-US"/>
        </a:p>
      </dgm:t>
    </dgm:pt>
    <dgm:pt modelId="{9FED2D18-2EC6-4CCC-9025-4E617868F58B}" type="sibTrans" cxnId="{C188798A-9611-4FFD-8D28-8C3DD65CF9B2}">
      <dgm:prSet/>
      <dgm:spPr/>
      <dgm:t>
        <a:bodyPr/>
        <a:lstStyle/>
        <a:p>
          <a:endParaRPr lang="en-US"/>
        </a:p>
      </dgm:t>
    </dgm:pt>
    <dgm:pt modelId="{304B8D24-A309-4A4D-9CC8-37C8D81D7D74}">
      <dgm:prSet/>
      <dgm:spPr/>
      <dgm:t>
        <a:bodyPr/>
        <a:lstStyle/>
        <a:p>
          <a:r>
            <a:rPr lang="en-CA"/>
            <a:t>REC BUYERS: Pay for the energy, get credits/tax benefits</a:t>
          </a:r>
          <a:endParaRPr lang="en-US"/>
        </a:p>
      </dgm:t>
    </dgm:pt>
    <dgm:pt modelId="{822DCE6F-14B9-43B5-A858-94A5817B9C33}" type="parTrans" cxnId="{DC381394-AE9B-4E18-8501-0C65FEB7F405}">
      <dgm:prSet/>
      <dgm:spPr/>
      <dgm:t>
        <a:bodyPr/>
        <a:lstStyle/>
        <a:p>
          <a:endParaRPr lang="en-US"/>
        </a:p>
      </dgm:t>
    </dgm:pt>
    <dgm:pt modelId="{2791EDAF-A73D-412A-B2F0-78DF92B22557}" type="sibTrans" cxnId="{DC381394-AE9B-4E18-8501-0C65FEB7F405}">
      <dgm:prSet/>
      <dgm:spPr/>
      <dgm:t>
        <a:bodyPr/>
        <a:lstStyle/>
        <a:p>
          <a:endParaRPr lang="en-US"/>
        </a:p>
      </dgm:t>
    </dgm:pt>
    <dgm:pt modelId="{1502BBC3-590B-41DA-BC55-C59E501C37FE}">
      <dgm:prSet/>
      <dgm:spPr/>
      <dgm:t>
        <a:bodyPr/>
        <a:lstStyle/>
        <a:p>
          <a:r>
            <a:rPr lang="en-CA"/>
            <a:t>REC ISSUERS: Validate/Supervise process</a:t>
          </a:r>
          <a:endParaRPr lang="en-US"/>
        </a:p>
      </dgm:t>
    </dgm:pt>
    <dgm:pt modelId="{4CC6EB00-9684-4CB9-B7F1-4482FB2AE055}" type="parTrans" cxnId="{BD5B668C-F4B5-4ACF-8A0A-68C3D4B92EC8}">
      <dgm:prSet/>
      <dgm:spPr/>
      <dgm:t>
        <a:bodyPr/>
        <a:lstStyle/>
        <a:p>
          <a:endParaRPr lang="en-US"/>
        </a:p>
      </dgm:t>
    </dgm:pt>
    <dgm:pt modelId="{6C7CB861-2D29-4A3C-8DEC-683E8C0D1F71}" type="sibTrans" cxnId="{BD5B668C-F4B5-4ACF-8A0A-68C3D4B92EC8}">
      <dgm:prSet/>
      <dgm:spPr/>
      <dgm:t>
        <a:bodyPr/>
        <a:lstStyle/>
        <a:p>
          <a:endParaRPr lang="en-US"/>
        </a:p>
      </dgm:t>
    </dgm:pt>
    <dgm:pt modelId="{0C7069B3-96B0-4884-90D3-E9FDB1DF5ABD}" type="pres">
      <dgm:prSet presAssocID="{1D394B62-163C-4F1B-898C-469B1A573CB3}" presName="linear" presStyleCnt="0">
        <dgm:presLayoutVars>
          <dgm:dir/>
          <dgm:animLvl val="lvl"/>
          <dgm:resizeHandles val="exact"/>
        </dgm:presLayoutVars>
      </dgm:prSet>
      <dgm:spPr/>
    </dgm:pt>
    <dgm:pt modelId="{040CB85F-67F5-467E-8D1E-C27C893855B7}" type="pres">
      <dgm:prSet presAssocID="{4CC60984-7557-499B-96E9-4374F5D02358}" presName="parentLin" presStyleCnt="0"/>
      <dgm:spPr/>
    </dgm:pt>
    <dgm:pt modelId="{73576675-DFB2-4F4D-A46E-259AB0F96FB0}" type="pres">
      <dgm:prSet presAssocID="{4CC60984-7557-499B-96E9-4374F5D02358}" presName="parentLeftMargin" presStyleLbl="node1" presStyleIdx="0" presStyleCnt="3"/>
      <dgm:spPr/>
    </dgm:pt>
    <dgm:pt modelId="{97E2161F-313B-4971-91F6-22FACB89E67E}" type="pres">
      <dgm:prSet presAssocID="{4CC60984-7557-499B-96E9-4374F5D0235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768B93-B18B-4CF3-B8E2-72471F651C6D}" type="pres">
      <dgm:prSet presAssocID="{4CC60984-7557-499B-96E9-4374F5D02358}" presName="negativeSpace" presStyleCnt="0"/>
      <dgm:spPr/>
    </dgm:pt>
    <dgm:pt modelId="{ACFEF69D-59C7-45BD-975E-C5F5863B1DC4}" type="pres">
      <dgm:prSet presAssocID="{4CC60984-7557-499B-96E9-4374F5D02358}" presName="childText" presStyleLbl="conFgAcc1" presStyleIdx="0" presStyleCnt="3">
        <dgm:presLayoutVars>
          <dgm:bulletEnabled val="1"/>
        </dgm:presLayoutVars>
      </dgm:prSet>
      <dgm:spPr/>
    </dgm:pt>
    <dgm:pt modelId="{B7DE6F19-D7A6-481F-B4F4-029AC2DD9954}" type="pres">
      <dgm:prSet presAssocID="{7E421A6D-1618-4968-9258-FC138856B370}" presName="spaceBetweenRectangles" presStyleCnt="0"/>
      <dgm:spPr/>
    </dgm:pt>
    <dgm:pt modelId="{06C5BB28-7BF6-40B1-B685-9F59D9D7E8BD}" type="pres">
      <dgm:prSet presAssocID="{7E51ACC3-90E3-4244-BE97-34F64FAF8380}" presName="parentLin" presStyleCnt="0"/>
      <dgm:spPr/>
    </dgm:pt>
    <dgm:pt modelId="{32F9EC63-849B-48A6-9050-908E64B659B3}" type="pres">
      <dgm:prSet presAssocID="{7E51ACC3-90E3-4244-BE97-34F64FAF8380}" presName="parentLeftMargin" presStyleLbl="node1" presStyleIdx="0" presStyleCnt="3"/>
      <dgm:spPr/>
    </dgm:pt>
    <dgm:pt modelId="{275A0112-15F7-4D05-802D-E1F3D69EA35B}" type="pres">
      <dgm:prSet presAssocID="{7E51ACC3-90E3-4244-BE97-34F64FAF838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32F743-27E6-4CDA-A440-1E3703B04312}" type="pres">
      <dgm:prSet presAssocID="{7E51ACC3-90E3-4244-BE97-34F64FAF8380}" presName="negativeSpace" presStyleCnt="0"/>
      <dgm:spPr/>
    </dgm:pt>
    <dgm:pt modelId="{BD3BF04E-C7A8-405D-B43B-414779591932}" type="pres">
      <dgm:prSet presAssocID="{7E51ACC3-90E3-4244-BE97-34F64FAF8380}" presName="childText" presStyleLbl="conFgAcc1" presStyleIdx="1" presStyleCnt="3">
        <dgm:presLayoutVars>
          <dgm:bulletEnabled val="1"/>
        </dgm:presLayoutVars>
      </dgm:prSet>
      <dgm:spPr/>
    </dgm:pt>
    <dgm:pt modelId="{BE173929-3FD5-431F-9D3C-C98779B35FD7}" type="pres">
      <dgm:prSet presAssocID="{72BB8FE8-1C32-43C6-8AE3-37D329492DED}" presName="spaceBetweenRectangles" presStyleCnt="0"/>
      <dgm:spPr/>
    </dgm:pt>
    <dgm:pt modelId="{60FD7944-7C5A-4E01-9786-375753EC8327}" type="pres">
      <dgm:prSet presAssocID="{F6CE9E3D-7915-4427-A42F-94072D187749}" presName="parentLin" presStyleCnt="0"/>
      <dgm:spPr/>
    </dgm:pt>
    <dgm:pt modelId="{A11BBA81-8802-46E2-A218-415F003694A5}" type="pres">
      <dgm:prSet presAssocID="{F6CE9E3D-7915-4427-A42F-94072D187749}" presName="parentLeftMargin" presStyleLbl="node1" presStyleIdx="1" presStyleCnt="3"/>
      <dgm:spPr/>
    </dgm:pt>
    <dgm:pt modelId="{E9AE9DA9-C004-4458-BB52-DEA9D9E639BC}" type="pres">
      <dgm:prSet presAssocID="{F6CE9E3D-7915-4427-A42F-94072D18774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8C89DAE-F586-4F51-B814-2549A6864E5D}" type="pres">
      <dgm:prSet presAssocID="{F6CE9E3D-7915-4427-A42F-94072D187749}" presName="negativeSpace" presStyleCnt="0"/>
      <dgm:spPr/>
    </dgm:pt>
    <dgm:pt modelId="{25F7997C-820D-440C-A2AD-1684C39D9D2F}" type="pres">
      <dgm:prSet presAssocID="{F6CE9E3D-7915-4427-A42F-94072D18774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AA14319-12B8-40F0-A5B6-90B752C4D099}" type="presOf" srcId="{7E51ACC3-90E3-4244-BE97-34F64FAF8380}" destId="{275A0112-15F7-4D05-802D-E1F3D69EA35B}" srcOrd="1" destOrd="0" presId="urn:microsoft.com/office/officeart/2005/8/layout/list1"/>
    <dgm:cxn modelId="{516A7E2B-8D28-4EE4-85C9-0A843C963163}" type="presOf" srcId="{4CC60984-7557-499B-96E9-4374F5D02358}" destId="{73576675-DFB2-4F4D-A46E-259AB0F96FB0}" srcOrd="0" destOrd="0" presId="urn:microsoft.com/office/officeart/2005/8/layout/list1"/>
    <dgm:cxn modelId="{06805334-7E90-4189-824D-D5CD5D4C7CCA}" type="presOf" srcId="{1D394B62-163C-4F1B-898C-469B1A573CB3}" destId="{0C7069B3-96B0-4884-90D3-E9FDB1DF5ABD}" srcOrd="0" destOrd="0" presId="urn:microsoft.com/office/officeart/2005/8/layout/list1"/>
    <dgm:cxn modelId="{445E3260-76AF-4584-8D83-27661EC6C2EC}" type="presOf" srcId="{F6CE9E3D-7915-4427-A42F-94072D187749}" destId="{A11BBA81-8802-46E2-A218-415F003694A5}" srcOrd="0" destOrd="0" presId="urn:microsoft.com/office/officeart/2005/8/layout/list1"/>
    <dgm:cxn modelId="{B9CEB447-186F-4D43-A42A-8EEFEC8B96D2}" type="presOf" srcId="{1502BBC3-590B-41DA-BC55-C59E501C37FE}" destId="{25F7997C-820D-440C-A2AD-1684C39D9D2F}" srcOrd="0" destOrd="2" presId="urn:microsoft.com/office/officeart/2005/8/layout/list1"/>
    <dgm:cxn modelId="{2BF7956D-ECB7-42B3-9392-E9FACDCE06FB}" type="presOf" srcId="{4CC60984-7557-499B-96E9-4374F5D02358}" destId="{97E2161F-313B-4971-91F6-22FACB89E67E}" srcOrd="1" destOrd="0" presId="urn:microsoft.com/office/officeart/2005/8/layout/list1"/>
    <dgm:cxn modelId="{8F7D7D7A-42E5-4E3C-97B9-55550D69F62D}" type="presOf" srcId="{720CFDAD-EE84-4D05-89DD-FDF2F69AEF39}" destId="{25F7997C-820D-440C-A2AD-1684C39D9D2F}" srcOrd="0" destOrd="0" presId="urn:microsoft.com/office/officeart/2005/8/layout/list1"/>
    <dgm:cxn modelId="{A683AC7E-ED84-4209-B3FC-552F0EA60D60}" srcId="{1D394B62-163C-4F1B-898C-469B1A573CB3}" destId="{F6CE9E3D-7915-4427-A42F-94072D187749}" srcOrd="2" destOrd="0" parTransId="{700B69D0-FC0C-422D-A8AD-AA1A9C8D39FE}" sibTransId="{8E4E0CC2-3A67-4378-8951-7730399F316C}"/>
    <dgm:cxn modelId="{C188798A-9611-4FFD-8D28-8C3DD65CF9B2}" srcId="{F6CE9E3D-7915-4427-A42F-94072D187749}" destId="{720CFDAD-EE84-4D05-89DD-FDF2F69AEF39}" srcOrd="0" destOrd="0" parTransId="{96C6830F-0C49-49EF-BA78-41FD858E8BA3}" sibTransId="{9FED2D18-2EC6-4CCC-9025-4E617868F58B}"/>
    <dgm:cxn modelId="{BD5B668C-F4B5-4ACF-8A0A-68C3D4B92EC8}" srcId="{F6CE9E3D-7915-4427-A42F-94072D187749}" destId="{1502BBC3-590B-41DA-BC55-C59E501C37FE}" srcOrd="2" destOrd="0" parTransId="{4CC6EB00-9684-4CB9-B7F1-4482FB2AE055}" sibTransId="{6C7CB861-2D29-4A3C-8DEC-683E8C0D1F71}"/>
    <dgm:cxn modelId="{DC381394-AE9B-4E18-8501-0C65FEB7F405}" srcId="{F6CE9E3D-7915-4427-A42F-94072D187749}" destId="{304B8D24-A309-4A4D-9CC8-37C8D81D7D74}" srcOrd="1" destOrd="0" parTransId="{822DCE6F-14B9-43B5-A858-94A5817B9C33}" sibTransId="{2791EDAF-A73D-412A-B2F0-78DF92B22557}"/>
    <dgm:cxn modelId="{57CBDFA0-66AB-400D-9A04-7D6E6FF2175A}" type="presOf" srcId="{F6CE9E3D-7915-4427-A42F-94072D187749}" destId="{E9AE9DA9-C004-4458-BB52-DEA9D9E639BC}" srcOrd="1" destOrd="0" presId="urn:microsoft.com/office/officeart/2005/8/layout/list1"/>
    <dgm:cxn modelId="{A883C6A3-D5B1-40FC-83F9-7CF49E7B517F}" type="presOf" srcId="{304B8D24-A309-4A4D-9CC8-37C8D81D7D74}" destId="{25F7997C-820D-440C-A2AD-1684C39D9D2F}" srcOrd="0" destOrd="1" presId="urn:microsoft.com/office/officeart/2005/8/layout/list1"/>
    <dgm:cxn modelId="{F99E7BB3-084D-41EA-9BB0-F2C181E12DD0}" srcId="{1D394B62-163C-4F1B-898C-469B1A573CB3}" destId="{4CC60984-7557-499B-96E9-4374F5D02358}" srcOrd="0" destOrd="0" parTransId="{6666AB5C-7F1C-4664-B2A7-E0DF1CA3B3BF}" sibTransId="{7E421A6D-1618-4968-9258-FC138856B370}"/>
    <dgm:cxn modelId="{252D12BE-C828-4F19-B9BA-4267905E7012}" srcId="{1D394B62-163C-4F1B-898C-469B1A573CB3}" destId="{7E51ACC3-90E3-4244-BE97-34F64FAF8380}" srcOrd="1" destOrd="0" parTransId="{B91CCD69-EC64-482E-B805-CC412952A61F}" sibTransId="{72BB8FE8-1C32-43C6-8AE3-37D329492DED}"/>
    <dgm:cxn modelId="{C58FD2C0-F4A3-445D-B8D9-530F5EF04FC1}" type="presOf" srcId="{7E51ACC3-90E3-4244-BE97-34F64FAF8380}" destId="{32F9EC63-849B-48A6-9050-908E64B659B3}" srcOrd="0" destOrd="0" presId="urn:microsoft.com/office/officeart/2005/8/layout/list1"/>
    <dgm:cxn modelId="{7A047E09-1728-4375-8A2A-3AEE22DAC7E2}" type="presParOf" srcId="{0C7069B3-96B0-4884-90D3-E9FDB1DF5ABD}" destId="{040CB85F-67F5-467E-8D1E-C27C893855B7}" srcOrd="0" destOrd="0" presId="urn:microsoft.com/office/officeart/2005/8/layout/list1"/>
    <dgm:cxn modelId="{C0DF04AA-C5ED-4BA4-B66D-128F28FC9ECD}" type="presParOf" srcId="{040CB85F-67F5-467E-8D1E-C27C893855B7}" destId="{73576675-DFB2-4F4D-A46E-259AB0F96FB0}" srcOrd="0" destOrd="0" presId="urn:microsoft.com/office/officeart/2005/8/layout/list1"/>
    <dgm:cxn modelId="{B4CE7DFC-10FA-4A02-A19B-E9A05B174959}" type="presParOf" srcId="{040CB85F-67F5-467E-8D1E-C27C893855B7}" destId="{97E2161F-313B-4971-91F6-22FACB89E67E}" srcOrd="1" destOrd="0" presId="urn:microsoft.com/office/officeart/2005/8/layout/list1"/>
    <dgm:cxn modelId="{C005AA8E-26C9-4EA6-A128-6018FBD9691B}" type="presParOf" srcId="{0C7069B3-96B0-4884-90D3-E9FDB1DF5ABD}" destId="{DE768B93-B18B-4CF3-B8E2-72471F651C6D}" srcOrd="1" destOrd="0" presId="urn:microsoft.com/office/officeart/2005/8/layout/list1"/>
    <dgm:cxn modelId="{33D0C786-73D1-40A5-AC96-1C6683E6C5C5}" type="presParOf" srcId="{0C7069B3-96B0-4884-90D3-E9FDB1DF5ABD}" destId="{ACFEF69D-59C7-45BD-975E-C5F5863B1DC4}" srcOrd="2" destOrd="0" presId="urn:microsoft.com/office/officeart/2005/8/layout/list1"/>
    <dgm:cxn modelId="{299D1DEF-3A3A-40E0-813F-0DE1B87CF5E8}" type="presParOf" srcId="{0C7069B3-96B0-4884-90D3-E9FDB1DF5ABD}" destId="{B7DE6F19-D7A6-481F-B4F4-029AC2DD9954}" srcOrd="3" destOrd="0" presId="urn:microsoft.com/office/officeart/2005/8/layout/list1"/>
    <dgm:cxn modelId="{DBD6B143-4A94-499E-A86A-24151CED3809}" type="presParOf" srcId="{0C7069B3-96B0-4884-90D3-E9FDB1DF5ABD}" destId="{06C5BB28-7BF6-40B1-B685-9F59D9D7E8BD}" srcOrd="4" destOrd="0" presId="urn:microsoft.com/office/officeart/2005/8/layout/list1"/>
    <dgm:cxn modelId="{7B71FC98-2BF0-4EEF-BEAD-D43BA24C6099}" type="presParOf" srcId="{06C5BB28-7BF6-40B1-B685-9F59D9D7E8BD}" destId="{32F9EC63-849B-48A6-9050-908E64B659B3}" srcOrd="0" destOrd="0" presId="urn:microsoft.com/office/officeart/2005/8/layout/list1"/>
    <dgm:cxn modelId="{BCA19288-0C88-4DE8-8DBF-0B3650BF6294}" type="presParOf" srcId="{06C5BB28-7BF6-40B1-B685-9F59D9D7E8BD}" destId="{275A0112-15F7-4D05-802D-E1F3D69EA35B}" srcOrd="1" destOrd="0" presId="urn:microsoft.com/office/officeart/2005/8/layout/list1"/>
    <dgm:cxn modelId="{31029023-EEEE-47FE-867B-FC15A04739B2}" type="presParOf" srcId="{0C7069B3-96B0-4884-90D3-E9FDB1DF5ABD}" destId="{5032F743-27E6-4CDA-A440-1E3703B04312}" srcOrd="5" destOrd="0" presId="urn:microsoft.com/office/officeart/2005/8/layout/list1"/>
    <dgm:cxn modelId="{52AABF3E-F726-4245-986A-B27C2D7E3E17}" type="presParOf" srcId="{0C7069B3-96B0-4884-90D3-E9FDB1DF5ABD}" destId="{BD3BF04E-C7A8-405D-B43B-414779591932}" srcOrd="6" destOrd="0" presId="urn:microsoft.com/office/officeart/2005/8/layout/list1"/>
    <dgm:cxn modelId="{977BA3AC-233B-493D-B0B3-B6C6205474E4}" type="presParOf" srcId="{0C7069B3-96B0-4884-90D3-E9FDB1DF5ABD}" destId="{BE173929-3FD5-431F-9D3C-C98779B35FD7}" srcOrd="7" destOrd="0" presId="urn:microsoft.com/office/officeart/2005/8/layout/list1"/>
    <dgm:cxn modelId="{009AF415-DAC9-4DCB-BE81-03A9F078A721}" type="presParOf" srcId="{0C7069B3-96B0-4884-90D3-E9FDB1DF5ABD}" destId="{60FD7944-7C5A-4E01-9786-375753EC8327}" srcOrd="8" destOrd="0" presId="urn:microsoft.com/office/officeart/2005/8/layout/list1"/>
    <dgm:cxn modelId="{801EE704-4D4A-4E18-82E8-FFB7107A13B9}" type="presParOf" srcId="{60FD7944-7C5A-4E01-9786-375753EC8327}" destId="{A11BBA81-8802-46E2-A218-415F003694A5}" srcOrd="0" destOrd="0" presId="urn:microsoft.com/office/officeart/2005/8/layout/list1"/>
    <dgm:cxn modelId="{FAEE1DD4-168D-47F8-B8D6-B025E1E2DFBC}" type="presParOf" srcId="{60FD7944-7C5A-4E01-9786-375753EC8327}" destId="{E9AE9DA9-C004-4458-BB52-DEA9D9E639BC}" srcOrd="1" destOrd="0" presId="urn:microsoft.com/office/officeart/2005/8/layout/list1"/>
    <dgm:cxn modelId="{0DCB5D11-DE9A-4CAF-84F5-3D00F048DF37}" type="presParOf" srcId="{0C7069B3-96B0-4884-90D3-E9FDB1DF5ABD}" destId="{B8C89DAE-F586-4F51-B814-2549A6864E5D}" srcOrd="9" destOrd="0" presId="urn:microsoft.com/office/officeart/2005/8/layout/list1"/>
    <dgm:cxn modelId="{77E286B0-223A-41B8-861F-867DE22C53C8}" type="presParOf" srcId="{0C7069B3-96B0-4884-90D3-E9FDB1DF5ABD}" destId="{25F7997C-820D-440C-A2AD-1684C39D9D2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394B62-163C-4F1B-898C-469B1A573CB3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C60984-7557-499B-96E9-4374F5D02358}">
      <dgm:prSet/>
      <dgm:spPr/>
      <dgm:t>
        <a:bodyPr/>
        <a:lstStyle/>
        <a:p>
          <a:r>
            <a:rPr lang="en-US" dirty="0"/>
            <a:t>Immediate Next Steps</a:t>
          </a:r>
        </a:p>
      </dgm:t>
    </dgm:pt>
    <dgm:pt modelId="{6666AB5C-7F1C-4664-B2A7-E0DF1CA3B3BF}" type="parTrans" cxnId="{F99E7BB3-084D-41EA-9BB0-F2C181E12DD0}">
      <dgm:prSet/>
      <dgm:spPr/>
      <dgm:t>
        <a:bodyPr/>
        <a:lstStyle/>
        <a:p>
          <a:endParaRPr lang="en-US"/>
        </a:p>
      </dgm:t>
    </dgm:pt>
    <dgm:pt modelId="{7E421A6D-1618-4968-9258-FC138856B370}" type="sibTrans" cxnId="{F99E7BB3-084D-41EA-9BB0-F2C181E12DD0}">
      <dgm:prSet/>
      <dgm:spPr/>
      <dgm:t>
        <a:bodyPr/>
        <a:lstStyle/>
        <a:p>
          <a:endParaRPr lang="en-US"/>
        </a:p>
      </dgm:t>
    </dgm:pt>
    <dgm:pt modelId="{7E51ACC3-90E3-4244-BE97-34F64FAF8380}">
      <dgm:prSet/>
      <dgm:spPr/>
      <dgm:t>
        <a:bodyPr/>
        <a:lstStyle/>
        <a:p>
          <a:r>
            <a:rPr lang="en-CA" dirty="0"/>
            <a:t>Main Outcome: Research Tool</a:t>
          </a:r>
          <a:endParaRPr lang="en-US" dirty="0"/>
        </a:p>
      </dgm:t>
    </dgm:pt>
    <dgm:pt modelId="{B91CCD69-EC64-482E-B805-CC412952A61F}" type="parTrans" cxnId="{252D12BE-C828-4F19-B9BA-4267905E7012}">
      <dgm:prSet/>
      <dgm:spPr/>
      <dgm:t>
        <a:bodyPr/>
        <a:lstStyle/>
        <a:p>
          <a:endParaRPr lang="en-US"/>
        </a:p>
      </dgm:t>
    </dgm:pt>
    <dgm:pt modelId="{72BB8FE8-1C32-43C6-8AE3-37D329492DED}" type="sibTrans" cxnId="{252D12BE-C828-4F19-B9BA-4267905E7012}">
      <dgm:prSet/>
      <dgm:spPr/>
      <dgm:t>
        <a:bodyPr/>
        <a:lstStyle/>
        <a:p>
          <a:endParaRPr lang="en-US"/>
        </a:p>
      </dgm:t>
    </dgm:pt>
    <dgm:pt modelId="{720CFDAD-EE84-4D05-89DD-FDF2F69AEF39}">
      <dgm:prSet/>
      <dgm:spPr/>
      <dgm:t>
        <a:bodyPr/>
        <a:lstStyle/>
        <a:p>
          <a:r>
            <a:rPr lang="en-CA" dirty="0"/>
            <a:t>Demo/presentation on April 14</a:t>
          </a:r>
          <a:endParaRPr lang="en-US" dirty="0"/>
        </a:p>
      </dgm:t>
    </dgm:pt>
    <dgm:pt modelId="{96C6830F-0C49-49EF-BA78-41FD858E8BA3}" type="parTrans" cxnId="{C188798A-9611-4FFD-8D28-8C3DD65CF9B2}">
      <dgm:prSet/>
      <dgm:spPr/>
      <dgm:t>
        <a:bodyPr/>
        <a:lstStyle/>
        <a:p>
          <a:endParaRPr lang="en-US"/>
        </a:p>
      </dgm:t>
    </dgm:pt>
    <dgm:pt modelId="{9FED2D18-2EC6-4CCC-9025-4E617868F58B}" type="sibTrans" cxnId="{C188798A-9611-4FFD-8D28-8C3DD65CF9B2}">
      <dgm:prSet/>
      <dgm:spPr/>
      <dgm:t>
        <a:bodyPr/>
        <a:lstStyle/>
        <a:p>
          <a:endParaRPr lang="en-US"/>
        </a:p>
      </dgm:t>
    </dgm:pt>
    <dgm:pt modelId="{D91FB4F6-B841-4E05-9D27-719A4664B1E7}">
      <dgm:prSet/>
      <dgm:spPr/>
      <dgm:t>
        <a:bodyPr/>
        <a:lstStyle/>
        <a:p>
          <a:r>
            <a:rPr lang="en-US" dirty="0"/>
            <a:t>Choose Country</a:t>
          </a:r>
        </a:p>
      </dgm:t>
    </dgm:pt>
    <dgm:pt modelId="{EEC5ED3D-296C-4F24-8A54-387314A1E3C4}" type="parTrans" cxnId="{6FF9B85B-C7F6-46E1-A837-28BB81EE4360}">
      <dgm:prSet/>
      <dgm:spPr/>
      <dgm:t>
        <a:bodyPr/>
        <a:lstStyle/>
        <a:p>
          <a:endParaRPr lang="en-CA"/>
        </a:p>
      </dgm:t>
    </dgm:pt>
    <dgm:pt modelId="{3CFD0066-C42B-4BBA-A594-ABA2F8E685ED}" type="sibTrans" cxnId="{6FF9B85B-C7F6-46E1-A837-28BB81EE4360}">
      <dgm:prSet/>
      <dgm:spPr/>
      <dgm:t>
        <a:bodyPr/>
        <a:lstStyle/>
        <a:p>
          <a:endParaRPr lang="en-CA"/>
        </a:p>
      </dgm:t>
    </dgm:pt>
    <dgm:pt modelId="{6AB1B5BB-63BA-4C93-B059-9ADEDF70D7E8}">
      <dgm:prSet/>
      <dgm:spPr/>
      <dgm:t>
        <a:bodyPr/>
        <a:lstStyle/>
        <a:p>
          <a:r>
            <a:rPr lang="en-US" dirty="0"/>
            <a:t>Review Halcyon</a:t>
          </a:r>
        </a:p>
      </dgm:t>
    </dgm:pt>
    <dgm:pt modelId="{E1F75042-59F4-4689-B9ED-CA4C16D42230}" type="parTrans" cxnId="{8D574896-515B-489A-A3E7-FC17CBC75617}">
      <dgm:prSet/>
      <dgm:spPr/>
      <dgm:t>
        <a:bodyPr/>
        <a:lstStyle/>
        <a:p>
          <a:endParaRPr lang="en-CA"/>
        </a:p>
      </dgm:t>
    </dgm:pt>
    <dgm:pt modelId="{29DE9023-8BEC-4379-9467-9F4A0543D277}" type="sibTrans" cxnId="{8D574896-515B-489A-A3E7-FC17CBC75617}">
      <dgm:prSet/>
      <dgm:spPr/>
      <dgm:t>
        <a:bodyPr/>
        <a:lstStyle/>
        <a:p>
          <a:endParaRPr lang="en-CA"/>
        </a:p>
      </dgm:t>
    </dgm:pt>
    <dgm:pt modelId="{DBAE541D-F429-4E27-B9BF-A56A2ACEE5AF}">
      <dgm:prSet/>
      <dgm:spPr/>
      <dgm:t>
        <a:bodyPr/>
        <a:lstStyle/>
        <a:p>
          <a:r>
            <a:rPr lang="en-US" dirty="0"/>
            <a:t>Review provided example of data sources: India</a:t>
          </a:r>
        </a:p>
      </dgm:t>
    </dgm:pt>
    <dgm:pt modelId="{6B2AD925-68AF-4929-AAB3-A02858AE12C4}" type="parTrans" cxnId="{CADE83BF-B153-4F78-8924-1D4378D91773}">
      <dgm:prSet/>
      <dgm:spPr/>
      <dgm:t>
        <a:bodyPr/>
        <a:lstStyle/>
        <a:p>
          <a:endParaRPr lang="en-CA"/>
        </a:p>
      </dgm:t>
    </dgm:pt>
    <dgm:pt modelId="{A2D44B81-A0B5-4EE4-AFBC-36A606543031}" type="sibTrans" cxnId="{CADE83BF-B153-4F78-8924-1D4378D91773}">
      <dgm:prSet/>
      <dgm:spPr/>
      <dgm:t>
        <a:bodyPr/>
        <a:lstStyle/>
        <a:p>
          <a:endParaRPr lang="en-CA"/>
        </a:p>
      </dgm:t>
    </dgm:pt>
    <dgm:pt modelId="{75C704F8-9432-4F03-8934-8F79423096C4}">
      <dgm:prSet/>
      <dgm:spPr/>
      <dgm:t>
        <a:bodyPr/>
        <a:lstStyle/>
        <a:p>
          <a:r>
            <a:rPr lang="en-US"/>
            <a:t>Train chat model</a:t>
          </a:r>
          <a:endParaRPr lang="en-US" dirty="0"/>
        </a:p>
      </dgm:t>
    </dgm:pt>
    <dgm:pt modelId="{1066D988-41D8-4444-BF6C-836B8E2BD3F3}" type="parTrans" cxnId="{9A2192BE-B93C-405C-810A-BD550FBB2864}">
      <dgm:prSet/>
      <dgm:spPr/>
      <dgm:t>
        <a:bodyPr/>
        <a:lstStyle/>
        <a:p>
          <a:endParaRPr lang="en-CA"/>
        </a:p>
      </dgm:t>
    </dgm:pt>
    <dgm:pt modelId="{0494A216-BB13-49D5-BBCA-EE4F8B1EA753}" type="sibTrans" cxnId="{9A2192BE-B93C-405C-810A-BD550FBB2864}">
      <dgm:prSet/>
      <dgm:spPr/>
      <dgm:t>
        <a:bodyPr/>
        <a:lstStyle/>
        <a:p>
          <a:endParaRPr lang="en-CA"/>
        </a:p>
      </dgm:t>
    </dgm:pt>
    <dgm:pt modelId="{37D13E84-B46C-4ED6-A011-65B665CECA3D}">
      <dgm:prSet/>
      <dgm:spPr/>
      <dgm:t>
        <a:bodyPr/>
        <a:lstStyle/>
        <a:p>
          <a:r>
            <a:rPr lang="en-US"/>
            <a:t>Develop visual report </a:t>
          </a:r>
          <a:endParaRPr lang="en-US" dirty="0"/>
        </a:p>
      </dgm:t>
    </dgm:pt>
    <dgm:pt modelId="{E2856DA9-43D1-4DAD-B982-B40293602D9D}" type="parTrans" cxnId="{C04208B8-9115-47A2-AE80-44F295ECDEC2}">
      <dgm:prSet/>
      <dgm:spPr/>
      <dgm:t>
        <a:bodyPr/>
        <a:lstStyle/>
        <a:p>
          <a:endParaRPr lang="en-CA"/>
        </a:p>
      </dgm:t>
    </dgm:pt>
    <dgm:pt modelId="{31F75391-7881-4DB8-8EA2-0038E9B99105}" type="sibTrans" cxnId="{C04208B8-9115-47A2-AE80-44F295ECDEC2}">
      <dgm:prSet/>
      <dgm:spPr/>
      <dgm:t>
        <a:bodyPr/>
        <a:lstStyle/>
        <a:p>
          <a:endParaRPr lang="en-CA"/>
        </a:p>
      </dgm:t>
    </dgm:pt>
    <dgm:pt modelId="{271C1D0A-AB12-4908-8857-7F0C45AE6538}">
      <dgm:prSet/>
      <dgm:spPr/>
      <dgm:t>
        <a:bodyPr/>
        <a:lstStyle/>
        <a:p>
          <a:r>
            <a:rPr lang="en-US"/>
            <a:t>Visual interactive report</a:t>
          </a:r>
          <a:endParaRPr lang="en-US" dirty="0"/>
        </a:p>
      </dgm:t>
    </dgm:pt>
    <dgm:pt modelId="{D775D2A5-DB81-42CD-9C95-F7A3FFAB05C8}" type="parTrans" cxnId="{4D850D33-A8D2-4A21-ADA9-76050B66DCAB}">
      <dgm:prSet/>
      <dgm:spPr/>
      <dgm:t>
        <a:bodyPr/>
        <a:lstStyle/>
        <a:p>
          <a:endParaRPr lang="en-CA"/>
        </a:p>
      </dgm:t>
    </dgm:pt>
    <dgm:pt modelId="{A8800FF2-A8B6-4C81-9254-5977E90AE96A}" type="sibTrans" cxnId="{4D850D33-A8D2-4A21-ADA9-76050B66DCAB}">
      <dgm:prSet/>
      <dgm:spPr/>
      <dgm:t>
        <a:bodyPr/>
        <a:lstStyle/>
        <a:p>
          <a:endParaRPr lang="en-CA"/>
        </a:p>
      </dgm:t>
    </dgm:pt>
    <dgm:pt modelId="{515BED9B-CED6-4AF4-9551-8B8162EB467A}">
      <dgm:prSet/>
      <dgm:spPr/>
      <dgm:t>
        <a:bodyPr/>
        <a:lstStyle/>
        <a:p>
          <a:r>
            <a:rPr lang="en-US"/>
            <a:t>Chat for follow-up questions</a:t>
          </a:r>
          <a:endParaRPr lang="en-US" dirty="0"/>
        </a:p>
      </dgm:t>
    </dgm:pt>
    <dgm:pt modelId="{E5395F04-BC01-4E88-A351-18E12206D015}" type="parTrans" cxnId="{F69CF849-0C4E-498E-A5C0-67C74D57EC51}">
      <dgm:prSet/>
      <dgm:spPr/>
      <dgm:t>
        <a:bodyPr/>
        <a:lstStyle/>
        <a:p>
          <a:endParaRPr lang="en-CA"/>
        </a:p>
      </dgm:t>
    </dgm:pt>
    <dgm:pt modelId="{FDBDF53D-B62B-49E3-A81E-0013F89D2196}" type="sibTrans" cxnId="{F69CF849-0C4E-498E-A5C0-67C74D57EC51}">
      <dgm:prSet/>
      <dgm:spPr/>
      <dgm:t>
        <a:bodyPr/>
        <a:lstStyle/>
        <a:p>
          <a:endParaRPr lang="en-CA"/>
        </a:p>
      </dgm:t>
    </dgm:pt>
    <dgm:pt modelId="{C05D6007-AE35-4605-8509-BAB953EEF0F6}">
      <dgm:prSet/>
      <dgm:spPr/>
      <dgm:t>
        <a:bodyPr/>
        <a:lstStyle/>
        <a:p>
          <a:r>
            <a:rPr lang="en-US"/>
            <a:t>Methodology for including other countries</a:t>
          </a:r>
          <a:endParaRPr lang="en-US" dirty="0"/>
        </a:p>
      </dgm:t>
    </dgm:pt>
    <dgm:pt modelId="{4551E4B1-70E0-45BD-9608-8AB24A374ADE}" type="parTrans" cxnId="{9593B08E-457F-420E-881A-1DBD0E2139BC}">
      <dgm:prSet/>
      <dgm:spPr/>
      <dgm:t>
        <a:bodyPr/>
        <a:lstStyle/>
        <a:p>
          <a:endParaRPr lang="en-CA"/>
        </a:p>
      </dgm:t>
    </dgm:pt>
    <dgm:pt modelId="{6821E921-321B-4D67-B9B8-11C905DF5E7C}" type="sibTrans" cxnId="{9593B08E-457F-420E-881A-1DBD0E2139BC}">
      <dgm:prSet/>
      <dgm:spPr/>
      <dgm:t>
        <a:bodyPr/>
        <a:lstStyle/>
        <a:p>
          <a:endParaRPr lang="en-CA"/>
        </a:p>
      </dgm:t>
    </dgm:pt>
    <dgm:pt modelId="{0C7069B3-96B0-4884-90D3-E9FDB1DF5ABD}" type="pres">
      <dgm:prSet presAssocID="{1D394B62-163C-4F1B-898C-469B1A573CB3}" presName="linear" presStyleCnt="0">
        <dgm:presLayoutVars>
          <dgm:dir/>
          <dgm:animLvl val="lvl"/>
          <dgm:resizeHandles val="exact"/>
        </dgm:presLayoutVars>
      </dgm:prSet>
      <dgm:spPr/>
    </dgm:pt>
    <dgm:pt modelId="{040CB85F-67F5-467E-8D1E-C27C893855B7}" type="pres">
      <dgm:prSet presAssocID="{4CC60984-7557-499B-96E9-4374F5D02358}" presName="parentLin" presStyleCnt="0"/>
      <dgm:spPr/>
    </dgm:pt>
    <dgm:pt modelId="{73576675-DFB2-4F4D-A46E-259AB0F96FB0}" type="pres">
      <dgm:prSet presAssocID="{4CC60984-7557-499B-96E9-4374F5D02358}" presName="parentLeftMargin" presStyleLbl="node1" presStyleIdx="0" presStyleCnt="3"/>
      <dgm:spPr/>
    </dgm:pt>
    <dgm:pt modelId="{97E2161F-313B-4971-91F6-22FACB89E67E}" type="pres">
      <dgm:prSet presAssocID="{4CC60984-7557-499B-96E9-4374F5D0235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768B93-B18B-4CF3-B8E2-72471F651C6D}" type="pres">
      <dgm:prSet presAssocID="{4CC60984-7557-499B-96E9-4374F5D02358}" presName="negativeSpace" presStyleCnt="0"/>
      <dgm:spPr/>
    </dgm:pt>
    <dgm:pt modelId="{ACFEF69D-59C7-45BD-975E-C5F5863B1DC4}" type="pres">
      <dgm:prSet presAssocID="{4CC60984-7557-499B-96E9-4374F5D02358}" presName="childText" presStyleLbl="conFgAcc1" presStyleIdx="0" presStyleCnt="3">
        <dgm:presLayoutVars>
          <dgm:bulletEnabled val="1"/>
        </dgm:presLayoutVars>
      </dgm:prSet>
      <dgm:spPr/>
    </dgm:pt>
    <dgm:pt modelId="{B7DE6F19-D7A6-481F-B4F4-029AC2DD9954}" type="pres">
      <dgm:prSet presAssocID="{7E421A6D-1618-4968-9258-FC138856B370}" presName="spaceBetweenRectangles" presStyleCnt="0"/>
      <dgm:spPr/>
    </dgm:pt>
    <dgm:pt modelId="{06C5BB28-7BF6-40B1-B685-9F59D9D7E8BD}" type="pres">
      <dgm:prSet presAssocID="{7E51ACC3-90E3-4244-BE97-34F64FAF8380}" presName="parentLin" presStyleCnt="0"/>
      <dgm:spPr/>
    </dgm:pt>
    <dgm:pt modelId="{32F9EC63-849B-48A6-9050-908E64B659B3}" type="pres">
      <dgm:prSet presAssocID="{7E51ACC3-90E3-4244-BE97-34F64FAF8380}" presName="parentLeftMargin" presStyleLbl="node1" presStyleIdx="0" presStyleCnt="3"/>
      <dgm:spPr/>
    </dgm:pt>
    <dgm:pt modelId="{275A0112-15F7-4D05-802D-E1F3D69EA35B}" type="pres">
      <dgm:prSet presAssocID="{7E51ACC3-90E3-4244-BE97-34F64FAF838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32F743-27E6-4CDA-A440-1E3703B04312}" type="pres">
      <dgm:prSet presAssocID="{7E51ACC3-90E3-4244-BE97-34F64FAF8380}" presName="negativeSpace" presStyleCnt="0"/>
      <dgm:spPr/>
    </dgm:pt>
    <dgm:pt modelId="{BD3BF04E-C7A8-405D-B43B-414779591932}" type="pres">
      <dgm:prSet presAssocID="{7E51ACC3-90E3-4244-BE97-34F64FAF8380}" presName="childText" presStyleLbl="conFgAcc1" presStyleIdx="1" presStyleCnt="3">
        <dgm:presLayoutVars>
          <dgm:bulletEnabled val="1"/>
        </dgm:presLayoutVars>
      </dgm:prSet>
      <dgm:spPr/>
    </dgm:pt>
    <dgm:pt modelId="{BE173929-3FD5-431F-9D3C-C98779B35FD7}" type="pres">
      <dgm:prSet presAssocID="{72BB8FE8-1C32-43C6-8AE3-37D329492DED}" presName="spaceBetweenRectangles" presStyleCnt="0"/>
      <dgm:spPr/>
    </dgm:pt>
    <dgm:pt modelId="{357ABCDF-AA8E-481D-9E2E-3BCF881A56B0}" type="pres">
      <dgm:prSet presAssocID="{720CFDAD-EE84-4D05-89DD-FDF2F69AEF39}" presName="parentLin" presStyleCnt="0"/>
      <dgm:spPr/>
    </dgm:pt>
    <dgm:pt modelId="{220C0F1E-06DA-4E6B-8234-E58EAED4C267}" type="pres">
      <dgm:prSet presAssocID="{720CFDAD-EE84-4D05-89DD-FDF2F69AEF39}" presName="parentLeftMargin" presStyleLbl="node1" presStyleIdx="1" presStyleCnt="3"/>
      <dgm:spPr/>
    </dgm:pt>
    <dgm:pt modelId="{6664FEB4-C4F4-4779-A29B-059E3A806780}" type="pres">
      <dgm:prSet presAssocID="{720CFDAD-EE84-4D05-89DD-FDF2F69AEF3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7A8538D-4896-4EEE-B545-D4EF799673E1}" type="pres">
      <dgm:prSet presAssocID="{720CFDAD-EE84-4D05-89DD-FDF2F69AEF39}" presName="negativeSpace" presStyleCnt="0"/>
      <dgm:spPr/>
    </dgm:pt>
    <dgm:pt modelId="{68DCFB9E-94AC-4DA9-BF3E-1EF2CDD0B341}" type="pres">
      <dgm:prSet presAssocID="{720CFDAD-EE84-4D05-89DD-FDF2F69AEF3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57BBC09-4C87-4090-BA09-BAC5F3FB8CDC}" type="presOf" srcId="{C05D6007-AE35-4605-8509-BAB953EEF0F6}" destId="{BD3BF04E-C7A8-405D-B43B-414779591932}" srcOrd="0" destOrd="2" presId="urn:microsoft.com/office/officeart/2005/8/layout/list1"/>
    <dgm:cxn modelId="{2A9D8D0F-1801-45C0-BF79-C991BCF38B5B}" type="presOf" srcId="{4CC60984-7557-499B-96E9-4374F5D02358}" destId="{97E2161F-313B-4971-91F6-22FACB89E67E}" srcOrd="1" destOrd="0" presId="urn:microsoft.com/office/officeart/2005/8/layout/list1"/>
    <dgm:cxn modelId="{DA47EA12-E6FC-4701-94A4-5659DF8DB777}" type="presOf" srcId="{75C704F8-9432-4F03-8934-8F79423096C4}" destId="{ACFEF69D-59C7-45BD-975E-C5F5863B1DC4}" srcOrd="0" destOrd="3" presId="urn:microsoft.com/office/officeart/2005/8/layout/list1"/>
    <dgm:cxn modelId="{FF78DA16-26B2-4DEC-988F-431BDFA02E5F}" type="presOf" srcId="{720CFDAD-EE84-4D05-89DD-FDF2F69AEF39}" destId="{6664FEB4-C4F4-4779-A29B-059E3A806780}" srcOrd="1" destOrd="0" presId="urn:microsoft.com/office/officeart/2005/8/layout/list1"/>
    <dgm:cxn modelId="{40F5C528-5F66-4BDE-B1B7-589D08E66E77}" type="presOf" srcId="{37D13E84-B46C-4ED6-A011-65B665CECA3D}" destId="{ACFEF69D-59C7-45BD-975E-C5F5863B1DC4}" srcOrd="0" destOrd="4" presId="urn:microsoft.com/office/officeart/2005/8/layout/list1"/>
    <dgm:cxn modelId="{9704C52C-0839-4A7D-BBC0-7815368A3418}" type="presOf" srcId="{271C1D0A-AB12-4908-8857-7F0C45AE6538}" destId="{BD3BF04E-C7A8-405D-B43B-414779591932}" srcOrd="0" destOrd="0" presId="urn:microsoft.com/office/officeart/2005/8/layout/list1"/>
    <dgm:cxn modelId="{8DEF4031-1C9D-4210-950F-3868D88D0D28}" type="presOf" srcId="{DBAE541D-F429-4E27-B9BF-A56A2ACEE5AF}" destId="{ACFEF69D-59C7-45BD-975E-C5F5863B1DC4}" srcOrd="0" destOrd="2" presId="urn:microsoft.com/office/officeart/2005/8/layout/list1"/>
    <dgm:cxn modelId="{4D850D33-A8D2-4A21-ADA9-76050B66DCAB}" srcId="{7E51ACC3-90E3-4244-BE97-34F64FAF8380}" destId="{271C1D0A-AB12-4908-8857-7F0C45AE6538}" srcOrd="0" destOrd="0" parTransId="{D775D2A5-DB81-42CD-9C95-F7A3FFAB05C8}" sibTransId="{A8800FF2-A8B6-4C81-9254-5977E90AE96A}"/>
    <dgm:cxn modelId="{06805334-7E90-4189-824D-D5CD5D4C7CCA}" type="presOf" srcId="{1D394B62-163C-4F1B-898C-469B1A573CB3}" destId="{0C7069B3-96B0-4884-90D3-E9FDB1DF5ABD}" srcOrd="0" destOrd="0" presId="urn:microsoft.com/office/officeart/2005/8/layout/list1"/>
    <dgm:cxn modelId="{6FF9B85B-C7F6-46E1-A837-28BB81EE4360}" srcId="{4CC60984-7557-499B-96E9-4374F5D02358}" destId="{D91FB4F6-B841-4E05-9D27-719A4664B1E7}" srcOrd="0" destOrd="0" parTransId="{EEC5ED3D-296C-4F24-8A54-387314A1E3C4}" sibTransId="{3CFD0066-C42B-4BBA-A594-ABA2F8E685ED}"/>
    <dgm:cxn modelId="{04DF0E44-759A-46DB-BC7E-D3DFF73502BD}" type="presOf" srcId="{720CFDAD-EE84-4D05-89DD-FDF2F69AEF39}" destId="{220C0F1E-06DA-4E6B-8234-E58EAED4C267}" srcOrd="0" destOrd="0" presId="urn:microsoft.com/office/officeart/2005/8/layout/list1"/>
    <dgm:cxn modelId="{FB348267-6C58-4AAE-9E6B-D5669B547799}" type="presOf" srcId="{D91FB4F6-B841-4E05-9D27-719A4664B1E7}" destId="{ACFEF69D-59C7-45BD-975E-C5F5863B1DC4}" srcOrd="0" destOrd="0" presId="urn:microsoft.com/office/officeart/2005/8/layout/list1"/>
    <dgm:cxn modelId="{F69CF849-0C4E-498E-A5C0-67C74D57EC51}" srcId="{7E51ACC3-90E3-4244-BE97-34F64FAF8380}" destId="{515BED9B-CED6-4AF4-9551-8B8162EB467A}" srcOrd="1" destOrd="0" parTransId="{E5395F04-BC01-4E88-A351-18E12206D015}" sibTransId="{FDBDF53D-B62B-49E3-A81E-0013F89D2196}"/>
    <dgm:cxn modelId="{1BCA7256-50BC-4E1D-BD7D-666BC35ADB02}" type="presOf" srcId="{6AB1B5BB-63BA-4C93-B059-9ADEDF70D7E8}" destId="{ACFEF69D-59C7-45BD-975E-C5F5863B1DC4}" srcOrd="0" destOrd="1" presId="urn:microsoft.com/office/officeart/2005/8/layout/list1"/>
    <dgm:cxn modelId="{C188798A-9611-4FFD-8D28-8C3DD65CF9B2}" srcId="{1D394B62-163C-4F1B-898C-469B1A573CB3}" destId="{720CFDAD-EE84-4D05-89DD-FDF2F69AEF39}" srcOrd="2" destOrd="0" parTransId="{96C6830F-0C49-49EF-BA78-41FD858E8BA3}" sibTransId="{9FED2D18-2EC6-4CCC-9025-4E617868F58B}"/>
    <dgm:cxn modelId="{9593B08E-457F-420E-881A-1DBD0E2139BC}" srcId="{7E51ACC3-90E3-4244-BE97-34F64FAF8380}" destId="{C05D6007-AE35-4605-8509-BAB953EEF0F6}" srcOrd="2" destOrd="0" parTransId="{4551E4B1-70E0-45BD-9608-8AB24A374ADE}" sibTransId="{6821E921-321B-4D67-B9B8-11C905DF5E7C}"/>
    <dgm:cxn modelId="{8D574896-515B-489A-A3E7-FC17CBC75617}" srcId="{4CC60984-7557-499B-96E9-4374F5D02358}" destId="{6AB1B5BB-63BA-4C93-B059-9ADEDF70D7E8}" srcOrd="1" destOrd="0" parTransId="{E1F75042-59F4-4689-B9ED-CA4C16D42230}" sibTransId="{29DE9023-8BEC-4379-9467-9F4A0543D277}"/>
    <dgm:cxn modelId="{AC358897-1E1D-49A0-9168-CE4EB2A4B6F2}" type="presOf" srcId="{7E51ACC3-90E3-4244-BE97-34F64FAF8380}" destId="{32F9EC63-849B-48A6-9050-908E64B659B3}" srcOrd="0" destOrd="0" presId="urn:microsoft.com/office/officeart/2005/8/layout/list1"/>
    <dgm:cxn modelId="{BD28B6B1-0480-4B25-B8A6-ABA4A2DCF053}" type="presOf" srcId="{7E51ACC3-90E3-4244-BE97-34F64FAF8380}" destId="{275A0112-15F7-4D05-802D-E1F3D69EA35B}" srcOrd="1" destOrd="0" presId="urn:microsoft.com/office/officeart/2005/8/layout/list1"/>
    <dgm:cxn modelId="{F99E7BB3-084D-41EA-9BB0-F2C181E12DD0}" srcId="{1D394B62-163C-4F1B-898C-469B1A573CB3}" destId="{4CC60984-7557-499B-96E9-4374F5D02358}" srcOrd="0" destOrd="0" parTransId="{6666AB5C-7F1C-4664-B2A7-E0DF1CA3B3BF}" sibTransId="{7E421A6D-1618-4968-9258-FC138856B370}"/>
    <dgm:cxn modelId="{C04208B8-9115-47A2-AE80-44F295ECDEC2}" srcId="{4CC60984-7557-499B-96E9-4374F5D02358}" destId="{37D13E84-B46C-4ED6-A011-65B665CECA3D}" srcOrd="4" destOrd="0" parTransId="{E2856DA9-43D1-4DAD-B982-B40293602D9D}" sibTransId="{31F75391-7881-4DB8-8EA2-0038E9B99105}"/>
    <dgm:cxn modelId="{252D12BE-C828-4F19-B9BA-4267905E7012}" srcId="{1D394B62-163C-4F1B-898C-469B1A573CB3}" destId="{7E51ACC3-90E3-4244-BE97-34F64FAF8380}" srcOrd="1" destOrd="0" parTransId="{B91CCD69-EC64-482E-B805-CC412952A61F}" sibTransId="{72BB8FE8-1C32-43C6-8AE3-37D329492DED}"/>
    <dgm:cxn modelId="{9A2192BE-B93C-405C-810A-BD550FBB2864}" srcId="{4CC60984-7557-499B-96E9-4374F5D02358}" destId="{75C704F8-9432-4F03-8934-8F79423096C4}" srcOrd="3" destOrd="0" parTransId="{1066D988-41D8-4444-BF6C-836B8E2BD3F3}" sibTransId="{0494A216-BB13-49D5-BBCA-EE4F8B1EA753}"/>
    <dgm:cxn modelId="{CADE83BF-B153-4F78-8924-1D4378D91773}" srcId="{4CC60984-7557-499B-96E9-4374F5D02358}" destId="{DBAE541D-F429-4E27-B9BF-A56A2ACEE5AF}" srcOrd="2" destOrd="0" parTransId="{6B2AD925-68AF-4929-AAB3-A02858AE12C4}" sibTransId="{A2D44B81-A0B5-4EE4-AFBC-36A606543031}"/>
    <dgm:cxn modelId="{77727DDF-C22D-4819-9C0B-92437B443BB7}" type="presOf" srcId="{4CC60984-7557-499B-96E9-4374F5D02358}" destId="{73576675-DFB2-4F4D-A46E-259AB0F96FB0}" srcOrd="0" destOrd="0" presId="urn:microsoft.com/office/officeart/2005/8/layout/list1"/>
    <dgm:cxn modelId="{E4413FEB-8AAC-456D-A878-E1701D94A2AD}" type="presOf" srcId="{515BED9B-CED6-4AF4-9551-8B8162EB467A}" destId="{BD3BF04E-C7A8-405D-B43B-414779591932}" srcOrd="0" destOrd="1" presId="urn:microsoft.com/office/officeart/2005/8/layout/list1"/>
    <dgm:cxn modelId="{499FA02B-87FC-4FD6-A65B-7DC032FE34A0}" type="presParOf" srcId="{0C7069B3-96B0-4884-90D3-E9FDB1DF5ABD}" destId="{040CB85F-67F5-467E-8D1E-C27C893855B7}" srcOrd="0" destOrd="0" presId="urn:microsoft.com/office/officeart/2005/8/layout/list1"/>
    <dgm:cxn modelId="{03FD592E-2D24-4DBA-A855-4CD07A0E4A91}" type="presParOf" srcId="{040CB85F-67F5-467E-8D1E-C27C893855B7}" destId="{73576675-DFB2-4F4D-A46E-259AB0F96FB0}" srcOrd="0" destOrd="0" presId="urn:microsoft.com/office/officeart/2005/8/layout/list1"/>
    <dgm:cxn modelId="{D3555562-C323-4060-82FD-5B8342025E38}" type="presParOf" srcId="{040CB85F-67F5-467E-8D1E-C27C893855B7}" destId="{97E2161F-313B-4971-91F6-22FACB89E67E}" srcOrd="1" destOrd="0" presId="urn:microsoft.com/office/officeart/2005/8/layout/list1"/>
    <dgm:cxn modelId="{4D9202CD-45C8-488E-8D54-D249D1EDF76E}" type="presParOf" srcId="{0C7069B3-96B0-4884-90D3-E9FDB1DF5ABD}" destId="{DE768B93-B18B-4CF3-B8E2-72471F651C6D}" srcOrd="1" destOrd="0" presId="urn:microsoft.com/office/officeart/2005/8/layout/list1"/>
    <dgm:cxn modelId="{2FB7AEC0-E790-495E-99D8-654252757FC9}" type="presParOf" srcId="{0C7069B3-96B0-4884-90D3-E9FDB1DF5ABD}" destId="{ACFEF69D-59C7-45BD-975E-C5F5863B1DC4}" srcOrd="2" destOrd="0" presId="urn:microsoft.com/office/officeart/2005/8/layout/list1"/>
    <dgm:cxn modelId="{346AFEEE-8325-4553-A2D0-49AD82CD9F4E}" type="presParOf" srcId="{0C7069B3-96B0-4884-90D3-E9FDB1DF5ABD}" destId="{B7DE6F19-D7A6-481F-B4F4-029AC2DD9954}" srcOrd="3" destOrd="0" presId="urn:microsoft.com/office/officeart/2005/8/layout/list1"/>
    <dgm:cxn modelId="{64F09E5E-3DAC-4658-AF36-6042EDC092C3}" type="presParOf" srcId="{0C7069B3-96B0-4884-90D3-E9FDB1DF5ABD}" destId="{06C5BB28-7BF6-40B1-B685-9F59D9D7E8BD}" srcOrd="4" destOrd="0" presId="urn:microsoft.com/office/officeart/2005/8/layout/list1"/>
    <dgm:cxn modelId="{BDCB2880-42C9-4028-BEB3-C85F817F2E45}" type="presParOf" srcId="{06C5BB28-7BF6-40B1-B685-9F59D9D7E8BD}" destId="{32F9EC63-849B-48A6-9050-908E64B659B3}" srcOrd="0" destOrd="0" presId="urn:microsoft.com/office/officeart/2005/8/layout/list1"/>
    <dgm:cxn modelId="{FD2077F3-C742-47A9-98A8-5E74C0D4A528}" type="presParOf" srcId="{06C5BB28-7BF6-40B1-B685-9F59D9D7E8BD}" destId="{275A0112-15F7-4D05-802D-E1F3D69EA35B}" srcOrd="1" destOrd="0" presId="urn:microsoft.com/office/officeart/2005/8/layout/list1"/>
    <dgm:cxn modelId="{B4DB2A56-2C91-47FF-AEB1-79CC609FAD4E}" type="presParOf" srcId="{0C7069B3-96B0-4884-90D3-E9FDB1DF5ABD}" destId="{5032F743-27E6-4CDA-A440-1E3703B04312}" srcOrd="5" destOrd="0" presId="urn:microsoft.com/office/officeart/2005/8/layout/list1"/>
    <dgm:cxn modelId="{2AB47406-3E89-49DF-9F86-22C709E52100}" type="presParOf" srcId="{0C7069B3-96B0-4884-90D3-E9FDB1DF5ABD}" destId="{BD3BF04E-C7A8-405D-B43B-414779591932}" srcOrd="6" destOrd="0" presId="urn:microsoft.com/office/officeart/2005/8/layout/list1"/>
    <dgm:cxn modelId="{5F5ABAE1-E9C4-4D37-9DFC-58B7FA87E7C2}" type="presParOf" srcId="{0C7069B3-96B0-4884-90D3-E9FDB1DF5ABD}" destId="{BE173929-3FD5-431F-9D3C-C98779B35FD7}" srcOrd="7" destOrd="0" presId="urn:microsoft.com/office/officeart/2005/8/layout/list1"/>
    <dgm:cxn modelId="{5EA50DE6-F370-45B8-A25A-8A3509D8A1FE}" type="presParOf" srcId="{0C7069B3-96B0-4884-90D3-E9FDB1DF5ABD}" destId="{357ABCDF-AA8E-481D-9E2E-3BCF881A56B0}" srcOrd="8" destOrd="0" presId="urn:microsoft.com/office/officeart/2005/8/layout/list1"/>
    <dgm:cxn modelId="{3C8CC78E-3DD0-4D20-9205-1DCD3047E218}" type="presParOf" srcId="{357ABCDF-AA8E-481D-9E2E-3BCF881A56B0}" destId="{220C0F1E-06DA-4E6B-8234-E58EAED4C267}" srcOrd="0" destOrd="0" presId="urn:microsoft.com/office/officeart/2005/8/layout/list1"/>
    <dgm:cxn modelId="{47972F29-238A-472F-A47C-0ACBD688450C}" type="presParOf" srcId="{357ABCDF-AA8E-481D-9E2E-3BCF881A56B0}" destId="{6664FEB4-C4F4-4779-A29B-059E3A806780}" srcOrd="1" destOrd="0" presId="urn:microsoft.com/office/officeart/2005/8/layout/list1"/>
    <dgm:cxn modelId="{0FBE6B78-FB49-4619-B9E7-7A264865A631}" type="presParOf" srcId="{0C7069B3-96B0-4884-90D3-E9FDB1DF5ABD}" destId="{A7A8538D-4896-4EEE-B545-D4EF799673E1}" srcOrd="9" destOrd="0" presId="urn:microsoft.com/office/officeart/2005/8/layout/list1"/>
    <dgm:cxn modelId="{76815E58-0CF8-4955-90F1-255C79BF1977}" type="presParOf" srcId="{0C7069B3-96B0-4884-90D3-E9FDB1DF5ABD}" destId="{68DCFB9E-94AC-4DA9-BF3E-1EF2CDD0B34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EF69D-59C7-45BD-975E-C5F5863B1DC4}">
      <dsp:nvSpPr>
        <dsp:cNvPr id="0" name=""/>
        <dsp:cNvSpPr/>
      </dsp:nvSpPr>
      <dsp:spPr>
        <a:xfrm>
          <a:off x="0" y="927859"/>
          <a:ext cx="666683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2161F-313B-4971-91F6-22FACB89E67E}">
      <dsp:nvSpPr>
        <dsp:cNvPr id="0" name=""/>
        <dsp:cNvSpPr/>
      </dsp:nvSpPr>
      <dsp:spPr>
        <a:xfrm>
          <a:off x="333341" y="6326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Distributed solar</a:t>
          </a:r>
          <a:endParaRPr lang="en-US" sz="2000" kern="1200"/>
        </a:p>
      </dsp:txBody>
      <dsp:txXfrm>
        <a:off x="362162" y="661480"/>
        <a:ext cx="4609141" cy="532758"/>
      </dsp:txXfrm>
    </dsp:sp>
    <dsp:sp modelId="{BD3BF04E-C7A8-405D-B43B-414779591932}">
      <dsp:nvSpPr>
        <dsp:cNvPr id="0" name=""/>
        <dsp:cNvSpPr/>
      </dsp:nvSpPr>
      <dsp:spPr>
        <a:xfrm>
          <a:off x="0" y="1835059"/>
          <a:ext cx="666683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A0112-15F7-4D05-802D-E1F3D69EA35B}">
      <dsp:nvSpPr>
        <dsp:cNvPr id="0" name=""/>
        <dsp:cNvSpPr/>
      </dsp:nvSpPr>
      <dsp:spPr>
        <a:xfrm>
          <a:off x="333341" y="15398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Renewable Energy Certificates (RECs)</a:t>
          </a:r>
          <a:endParaRPr lang="en-US" sz="2000" kern="1200"/>
        </a:p>
      </dsp:txBody>
      <dsp:txXfrm>
        <a:off x="362162" y="1568680"/>
        <a:ext cx="4609141" cy="532758"/>
      </dsp:txXfrm>
    </dsp:sp>
    <dsp:sp modelId="{25F7997C-820D-440C-A2AD-1684C39D9D2F}">
      <dsp:nvSpPr>
        <dsp:cNvPr id="0" name=""/>
        <dsp:cNvSpPr/>
      </dsp:nvSpPr>
      <dsp:spPr>
        <a:xfrm>
          <a:off x="0" y="2742259"/>
          <a:ext cx="6666833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/>
            <a:t>SOLAR DEVELOPERS: Generate clean energy, get paid.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/>
            <a:t>REC BUYERS: Pay for the energy, get credits/tax benefits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/>
            <a:t>REC ISSUERS: Validate/Supervise process</a:t>
          </a:r>
          <a:endParaRPr lang="en-US" sz="2000" kern="1200"/>
        </a:p>
      </dsp:txBody>
      <dsp:txXfrm>
        <a:off x="0" y="2742259"/>
        <a:ext cx="6666833" cy="2079000"/>
      </dsp:txXfrm>
    </dsp:sp>
    <dsp:sp modelId="{E9AE9DA9-C004-4458-BB52-DEA9D9E639BC}">
      <dsp:nvSpPr>
        <dsp:cNvPr id="0" name=""/>
        <dsp:cNvSpPr/>
      </dsp:nvSpPr>
      <dsp:spPr>
        <a:xfrm>
          <a:off x="333341" y="24470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/>
            <a:t>Three key parties:</a:t>
          </a:r>
          <a:endParaRPr lang="en-US" sz="2000" kern="1200"/>
        </a:p>
      </dsp:txBody>
      <dsp:txXfrm>
        <a:off x="362162" y="2475880"/>
        <a:ext cx="4609141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EF69D-59C7-45BD-975E-C5F5863B1DC4}">
      <dsp:nvSpPr>
        <dsp:cNvPr id="0" name=""/>
        <dsp:cNvSpPr/>
      </dsp:nvSpPr>
      <dsp:spPr>
        <a:xfrm>
          <a:off x="0" y="392359"/>
          <a:ext cx="6666833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Choose Country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Review Halcyon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Review provided example of data sources: India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Train chat model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Develop visual report </a:t>
          </a:r>
          <a:endParaRPr lang="en-US" sz="2000" kern="1200" dirty="0"/>
        </a:p>
      </dsp:txBody>
      <dsp:txXfrm>
        <a:off x="0" y="392359"/>
        <a:ext cx="6666833" cy="2142000"/>
      </dsp:txXfrm>
    </dsp:sp>
    <dsp:sp modelId="{97E2161F-313B-4971-91F6-22FACB89E67E}">
      <dsp:nvSpPr>
        <dsp:cNvPr id="0" name=""/>
        <dsp:cNvSpPr/>
      </dsp:nvSpPr>
      <dsp:spPr>
        <a:xfrm>
          <a:off x="333341" y="971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Immediate Next Steps</a:t>
          </a:r>
        </a:p>
      </dsp:txBody>
      <dsp:txXfrm>
        <a:off x="362162" y="125980"/>
        <a:ext cx="4609141" cy="532758"/>
      </dsp:txXfrm>
    </dsp:sp>
    <dsp:sp modelId="{BD3BF04E-C7A8-405D-B43B-414779591932}">
      <dsp:nvSpPr>
        <dsp:cNvPr id="0" name=""/>
        <dsp:cNvSpPr/>
      </dsp:nvSpPr>
      <dsp:spPr>
        <a:xfrm>
          <a:off x="0" y="2937559"/>
          <a:ext cx="6666833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Visual interactive report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Chat for follow-up questions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Methodology for including other countries</a:t>
          </a:r>
          <a:endParaRPr lang="en-US" sz="2000" kern="1200" dirty="0"/>
        </a:p>
      </dsp:txBody>
      <dsp:txXfrm>
        <a:off x="0" y="2937559"/>
        <a:ext cx="6666833" cy="1512000"/>
      </dsp:txXfrm>
    </dsp:sp>
    <dsp:sp modelId="{275A0112-15F7-4D05-802D-E1F3D69EA35B}">
      <dsp:nvSpPr>
        <dsp:cNvPr id="0" name=""/>
        <dsp:cNvSpPr/>
      </dsp:nvSpPr>
      <dsp:spPr>
        <a:xfrm>
          <a:off x="333341" y="26423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Main Outcome: Research Tool</a:t>
          </a:r>
          <a:endParaRPr lang="en-US" sz="2000" kern="1200" dirty="0"/>
        </a:p>
      </dsp:txBody>
      <dsp:txXfrm>
        <a:off x="362162" y="2671180"/>
        <a:ext cx="4609141" cy="532758"/>
      </dsp:txXfrm>
    </dsp:sp>
    <dsp:sp modelId="{68DCFB9E-94AC-4DA9-BF3E-1EF2CDD0B341}">
      <dsp:nvSpPr>
        <dsp:cNvPr id="0" name=""/>
        <dsp:cNvSpPr/>
      </dsp:nvSpPr>
      <dsp:spPr>
        <a:xfrm>
          <a:off x="0" y="4852760"/>
          <a:ext cx="6666833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4FEB4-C4F4-4779-A29B-059E3A806780}">
      <dsp:nvSpPr>
        <dsp:cNvPr id="0" name=""/>
        <dsp:cNvSpPr/>
      </dsp:nvSpPr>
      <dsp:spPr>
        <a:xfrm>
          <a:off x="333341" y="4557560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Demo/presentation on April 14</a:t>
          </a:r>
          <a:endParaRPr lang="en-US" sz="2000" kern="1200" dirty="0"/>
        </a:p>
      </dsp:txBody>
      <dsp:txXfrm>
        <a:off x="362162" y="4586381"/>
        <a:ext cx="4609141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6BF6-E1FE-4088-BCE2-EFB21FCD5AAE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BDA5F-6CD4-40AD-BFC2-762E3AF858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6842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Powertrust takes care of all operations 1-5, acting as an agency bring the ecosystem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DA5F-6CD4-40AD-BFC2-762E3AF858F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6703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Choose a country</a:t>
            </a:r>
          </a:p>
          <a:p>
            <a:r>
              <a:rPr lang="en-CA" dirty="0"/>
              <a:t>Understand and capture distributions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DA5F-6CD4-40AD-BFC2-762E3AF858F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790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6CB9-0F56-112C-307B-D582C9C59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F144D-0F5E-034A-B3B5-7B2833986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3979-BFF2-B747-CD5D-4AC1A2DB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5AB1D-79C7-2D56-EC91-C19ED372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E78E9-32C0-BFC5-6487-F70D8A61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420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C0F7-A215-146F-A8D9-280A9B95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41D6-7900-2F69-3FF9-8910F0897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FB518-94F3-D84C-78A6-20F1DE77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BEA21-AB57-1A91-08C2-AC27BEAE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B0F6-CD51-2113-467A-615565A1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532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6494-9DBF-B7C9-D7F0-7A894AA7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E07A4-560C-AA63-75E4-862225308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37C34-DF36-A92C-3A3B-8E713A56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7E54-8513-07D1-0B20-711693B5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E8D4C-B9BD-7E9F-0BC4-3B56A0FF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027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91F1-488C-614D-BBF2-86EA6D4D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6979-5BC1-3745-AFA5-3C4D0996F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20149-E8AF-882B-C2A3-4C19F4F1D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4429-AB4B-82DA-8CAD-72DF765E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7BA9-CAAC-FE35-8BA8-0CF63A2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FF3ED-FAD5-408B-AD38-E287EEAF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075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3B9E2-9AF0-D569-6B8E-53725DBF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E74DE-48E5-CDB1-BC84-150AFCD0F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CE316-90FC-8DC8-BF79-342E1A8A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CDB98-38E6-FA12-F381-299D4D31E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4746E-56F9-331C-51CB-6A43B426E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C1F0F-8ABB-3390-F686-2FF6000B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F918A-329D-300D-D6B3-B68FA888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A5BB0-B679-9CF5-65FA-EE9F21DB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95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ED06-1D45-FDE8-DB89-798351CB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A4E73-5F44-DEAC-BF49-F6F691C4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2F7E1-49F6-67B3-E888-17B9BFBE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C06F2-9716-6720-370B-523C51E6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1282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BE3D8A-64EF-1F0C-0C26-49B18541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FDE42-3144-2E75-6D88-D4085067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B2E3A-55CD-81A5-0538-E1043F37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757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B129-8D84-CFD1-19C5-681C411E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C926-48C6-3553-E2CB-71961FEB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D2AEF-8051-70B7-7E7D-3616307A9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EF1DF-5C30-B6CC-FC1F-FB37CF852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9F54D-68B7-98EB-9A53-41B265AD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8F0F9-0433-5708-2CD2-561CE759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181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BE29-6EA4-6E92-FA82-C3C11F3D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1F1D3-6EC8-9F67-3C53-AA41B2052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F88D9-07AD-1157-AD48-D273826D9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C62A7-5386-0409-49DB-F6253A6D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BCA48-1E51-84E4-EF3A-C67FDE8E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A30A2-EA5A-26AB-B649-B436243E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06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E897-52CB-3531-4363-DA606E28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7FA68-D8E6-A0C9-EE80-76A04A6C2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BA9D0-6F8D-D8C6-528F-029ABEDE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9DE06-AE09-8225-A8E3-A248EC83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97283-C94F-5A30-CF30-B65BBDDA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973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03C47-3750-2CCB-3A01-C9F798A64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8D1A4-D105-57D2-7BA7-A28EAC50B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5D830-3B91-AA47-40D4-0E763708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FBCA-BD4F-4C55-9FDC-F2BB7F94B4C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977F-2700-1D17-253C-75D86CE8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1FCDD-7DF0-ACE6-1BD2-A34253D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20D6-A813-4F12-A676-103563C860A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733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FDA5C-AD1E-D015-1AE4-611C4388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E4726-7630-3B13-F657-0BD29DEF3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CDC26-8A69-9059-2EE7-70D911F60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fld id="{8464FBCA-BD4F-4C55-9FDC-F2BB7F94B4CB}" type="datetimeFigureOut">
              <a:rPr lang="en-CA" smtClean="0"/>
              <a:pPr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3D5FA-3918-6AB5-2BD7-724813608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F267C-CA3A-1948-0E6D-20B90DC1C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fld id="{424520D6-A813-4F12-A676-103563C860A5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010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F497-7BFD-BA29-7442-99AC0EEA9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216" y="596394"/>
            <a:ext cx="6468531" cy="2387600"/>
          </a:xfrm>
        </p:spPr>
        <p:txBody>
          <a:bodyPr>
            <a:normAutofit fontScale="90000"/>
          </a:bodyPr>
          <a:lstStyle/>
          <a:p>
            <a:r>
              <a:rPr lang="en-CA" dirty="0">
                <a:latin typeface="Agency FB" panose="020B0503020202020204" pitchFamily="34" charset="0"/>
              </a:rPr>
              <a:t>NE Hackathon: Introduction to 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BBE66-18BC-8663-33DB-8EC4E382C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807" y="4877318"/>
            <a:ext cx="4211955" cy="1655762"/>
          </a:xfrm>
        </p:spPr>
        <p:txBody>
          <a:bodyPr/>
          <a:lstStyle/>
          <a:p>
            <a:r>
              <a:rPr lang="en-CA" dirty="0">
                <a:latin typeface="Agency FB" panose="020B0503020202020204" pitchFamily="34" charset="0"/>
              </a:rPr>
              <a:t>Kartik Naik</a:t>
            </a:r>
          </a:p>
          <a:p>
            <a:r>
              <a:rPr lang="en-CA" dirty="0">
                <a:latin typeface="Agency FB" panose="020B0503020202020204" pitchFamily="34" charset="0"/>
              </a:rPr>
              <a:t>Data Scientist</a:t>
            </a:r>
          </a:p>
          <a:p>
            <a:r>
              <a:rPr lang="en-CA" dirty="0">
                <a:latin typeface="Agency FB" panose="020B0503020202020204" pitchFamily="34" charset="0"/>
              </a:rPr>
              <a:t>Powertrust</a:t>
            </a:r>
          </a:p>
        </p:txBody>
      </p:sp>
      <p:sp>
        <p:nvSpPr>
          <p:cNvPr id="4" name="Google Shape;331;g225e9e92265_0_3">
            <a:extLst>
              <a:ext uri="{FF2B5EF4-FFF2-40B4-BE49-F238E27FC236}">
                <a16:creationId xmlns:a16="http://schemas.microsoft.com/office/drawing/2014/main" id="{4CF06B57-7A36-BD15-9FAF-6B2EE2CF3035}"/>
              </a:ext>
            </a:extLst>
          </p:cNvPr>
          <p:cNvSpPr/>
          <p:nvPr/>
        </p:nvSpPr>
        <p:spPr>
          <a:xfrm>
            <a:off x="10034750" y="5750300"/>
            <a:ext cx="1708533" cy="670757"/>
          </a:xfrm>
          <a:custGeom>
            <a:avLst/>
            <a:gdLst/>
            <a:ahLst/>
            <a:cxnLst/>
            <a:rect l="l" t="t" r="r" b="b"/>
            <a:pathLst>
              <a:path w="2559600" h="1004880" extrusionOk="0">
                <a:moveTo>
                  <a:pt x="0" y="0"/>
                </a:moveTo>
                <a:lnTo>
                  <a:pt x="2559600" y="0"/>
                </a:lnTo>
                <a:lnTo>
                  <a:pt x="2559600" y="1004880"/>
                </a:lnTo>
                <a:lnTo>
                  <a:pt x="0" y="1004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332;g225e9e92265_0_3">
            <a:extLst>
              <a:ext uri="{FF2B5EF4-FFF2-40B4-BE49-F238E27FC236}">
                <a16:creationId xmlns:a16="http://schemas.microsoft.com/office/drawing/2014/main" id="{9AAB320C-1C1E-6EA3-A6AB-33FB673264B0}"/>
              </a:ext>
            </a:extLst>
          </p:cNvPr>
          <p:cNvSpPr/>
          <p:nvPr/>
        </p:nvSpPr>
        <p:spPr>
          <a:xfrm>
            <a:off x="8370535" y="5480426"/>
            <a:ext cx="1101598" cy="1097280"/>
          </a:xfrm>
          <a:custGeom>
            <a:avLst/>
            <a:gdLst/>
            <a:ahLst/>
            <a:cxnLst/>
            <a:rect l="l" t="t" r="r" b="b"/>
            <a:pathLst>
              <a:path w="2203196" h="2194560" extrusionOk="0">
                <a:moveTo>
                  <a:pt x="223901" y="0"/>
                </a:moveTo>
                <a:lnTo>
                  <a:pt x="1963674" y="0"/>
                </a:lnTo>
                <a:lnTo>
                  <a:pt x="2203196" y="239522"/>
                </a:lnTo>
                <a:lnTo>
                  <a:pt x="2203196" y="1970659"/>
                </a:lnTo>
                <a:lnTo>
                  <a:pt x="1979295" y="2194560"/>
                </a:lnTo>
                <a:lnTo>
                  <a:pt x="239522" y="2194560"/>
                </a:lnTo>
                <a:lnTo>
                  <a:pt x="0" y="1955038"/>
                </a:lnTo>
                <a:lnTo>
                  <a:pt x="0" y="223901"/>
                </a:lnTo>
                <a:close/>
              </a:path>
            </a:pathLst>
          </a:custGeom>
          <a:solidFill>
            <a:srgbClr val="002933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33;g225e9e92265_0_3">
            <a:extLst>
              <a:ext uri="{FF2B5EF4-FFF2-40B4-BE49-F238E27FC236}">
                <a16:creationId xmlns:a16="http://schemas.microsoft.com/office/drawing/2014/main" id="{3A408FDD-8F08-BD14-AD96-B2087698F4BD}"/>
              </a:ext>
            </a:extLst>
          </p:cNvPr>
          <p:cNvSpPr/>
          <p:nvPr/>
        </p:nvSpPr>
        <p:spPr>
          <a:xfrm>
            <a:off x="7535331" y="35736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914400" h="914400" extrusionOk="0">
                <a:moveTo>
                  <a:pt x="93345" y="0"/>
                </a:moveTo>
                <a:lnTo>
                  <a:pt x="814705" y="0"/>
                </a:lnTo>
                <a:lnTo>
                  <a:pt x="914400" y="99822"/>
                </a:lnTo>
                <a:lnTo>
                  <a:pt x="914400" y="821182"/>
                </a:lnTo>
                <a:lnTo>
                  <a:pt x="821055" y="914400"/>
                </a:lnTo>
                <a:lnTo>
                  <a:pt x="99822" y="914400"/>
                </a:lnTo>
                <a:lnTo>
                  <a:pt x="0" y="814578"/>
                </a:lnTo>
                <a:lnTo>
                  <a:pt x="0" y="93345"/>
                </a:lnTo>
                <a:close/>
              </a:path>
            </a:pathLst>
          </a:custGeom>
          <a:solidFill>
            <a:srgbClr val="002933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334;g225e9e92265_0_3">
            <a:extLst>
              <a:ext uri="{FF2B5EF4-FFF2-40B4-BE49-F238E27FC236}">
                <a16:creationId xmlns:a16="http://schemas.microsoft.com/office/drawing/2014/main" id="{94404CF5-4BFA-A53A-1822-6DE6D693EC92}"/>
              </a:ext>
            </a:extLst>
          </p:cNvPr>
          <p:cNvSpPr/>
          <p:nvPr/>
        </p:nvSpPr>
        <p:spPr>
          <a:xfrm>
            <a:off x="6042400" y="4238911"/>
            <a:ext cx="2022695" cy="2022695"/>
          </a:xfrm>
          <a:custGeom>
            <a:avLst/>
            <a:gdLst/>
            <a:ahLst/>
            <a:cxnLst/>
            <a:rect l="l" t="t" r="r" b="b"/>
            <a:pathLst>
              <a:path w="3030254" h="3030254" extrusionOk="0">
                <a:moveTo>
                  <a:pt x="0" y="0"/>
                </a:moveTo>
                <a:lnTo>
                  <a:pt x="3030254" y="0"/>
                </a:lnTo>
                <a:lnTo>
                  <a:pt x="3030254" y="3030254"/>
                </a:lnTo>
                <a:lnTo>
                  <a:pt x="0" y="3030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335;g225e9e92265_0_3">
            <a:extLst>
              <a:ext uri="{FF2B5EF4-FFF2-40B4-BE49-F238E27FC236}">
                <a16:creationId xmlns:a16="http://schemas.microsoft.com/office/drawing/2014/main" id="{A889F23E-8C9B-C89A-ECCD-D58FC162BFAA}"/>
              </a:ext>
            </a:extLst>
          </p:cNvPr>
          <p:cNvSpPr/>
          <p:nvPr/>
        </p:nvSpPr>
        <p:spPr>
          <a:xfrm>
            <a:off x="8298976" y="1898295"/>
            <a:ext cx="3354888" cy="3354888"/>
          </a:xfrm>
          <a:custGeom>
            <a:avLst/>
            <a:gdLst/>
            <a:ahLst/>
            <a:cxnLst/>
            <a:rect l="l" t="t" r="r" b="b"/>
            <a:pathLst>
              <a:path w="5026050" h="5026050" extrusionOk="0">
                <a:moveTo>
                  <a:pt x="0" y="0"/>
                </a:moveTo>
                <a:lnTo>
                  <a:pt x="5026050" y="0"/>
                </a:lnTo>
                <a:lnTo>
                  <a:pt x="5026050" y="5026050"/>
                </a:lnTo>
                <a:lnTo>
                  <a:pt x="0" y="5026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051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D9A59-9F1E-6E1F-E0C3-8165B0566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370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4" name="Google Shape;331;g225e9e92265_0_3">
            <a:extLst>
              <a:ext uri="{FF2B5EF4-FFF2-40B4-BE49-F238E27FC236}">
                <a16:creationId xmlns:a16="http://schemas.microsoft.com/office/drawing/2014/main" id="{D8AC444F-1CDE-9226-2EF4-25F7B97B654F}"/>
              </a:ext>
            </a:extLst>
          </p:cNvPr>
          <p:cNvSpPr/>
          <p:nvPr/>
        </p:nvSpPr>
        <p:spPr>
          <a:xfrm>
            <a:off x="10034750" y="5750300"/>
            <a:ext cx="1708533" cy="670757"/>
          </a:xfrm>
          <a:custGeom>
            <a:avLst/>
            <a:gdLst/>
            <a:ahLst/>
            <a:cxnLst/>
            <a:rect l="l" t="t" r="r" b="b"/>
            <a:pathLst>
              <a:path w="2559600" h="1004880" extrusionOk="0">
                <a:moveTo>
                  <a:pt x="0" y="0"/>
                </a:moveTo>
                <a:lnTo>
                  <a:pt x="2559600" y="0"/>
                </a:lnTo>
                <a:lnTo>
                  <a:pt x="2559600" y="1004880"/>
                </a:lnTo>
                <a:lnTo>
                  <a:pt x="0" y="1004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6D10176-46F3-BCB5-BD6A-1E9B04B86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2206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795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832C0-74CF-7363-E2C1-4C68D7284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589E13-BA08-B5F3-A2DF-5C5A3DBE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368" y="11745"/>
            <a:ext cx="6846255" cy="6846255"/>
          </a:xfrm>
          <a:prstGeom prst="rect">
            <a:avLst/>
          </a:prstGeom>
        </p:spPr>
      </p:pic>
      <p:sp>
        <p:nvSpPr>
          <p:cNvPr id="4" name="Google Shape;331;g225e9e92265_0_3">
            <a:extLst>
              <a:ext uri="{FF2B5EF4-FFF2-40B4-BE49-F238E27FC236}">
                <a16:creationId xmlns:a16="http://schemas.microsoft.com/office/drawing/2014/main" id="{1D88E666-FAB6-5528-A415-3821DCFA8C10}"/>
              </a:ext>
            </a:extLst>
          </p:cNvPr>
          <p:cNvSpPr/>
          <p:nvPr/>
        </p:nvSpPr>
        <p:spPr>
          <a:xfrm>
            <a:off x="10034750" y="5750300"/>
            <a:ext cx="1708533" cy="670757"/>
          </a:xfrm>
          <a:custGeom>
            <a:avLst/>
            <a:gdLst/>
            <a:ahLst/>
            <a:cxnLst/>
            <a:rect l="l" t="t" r="r" b="b"/>
            <a:pathLst>
              <a:path w="2559600" h="1004880" extrusionOk="0">
                <a:moveTo>
                  <a:pt x="0" y="0"/>
                </a:moveTo>
                <a:lnTo>
                  <a:pt x="2559600" y="0"/>
                </a:lnTo>
                <a:lnTo>
                  <a:pt x="2559600" y="1004880"/>
                </a:lnTo>
                <a:lnTo>
                  <a:pt x="0" y="1004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81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198EB-3E69-5C73-B83F-7F7245B5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574D2-8237-2F17-2F12-2F3B67B1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What it takes to contract with a site?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F1745037-2E27-4302-6208-FC4D6346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7945"/>
            <a:ext cx="10905066" cy="3707723"/>
          </a:xfrm>
          <a:prstGeom prst="rect">
            <a:avLst/>
          </a:prstGeom>
        </p:spPr>
      </p:pic>
      <p:sp>
        <p:nvSpPr>
          <p:cNvPr id="4" name="Google Shape;331;g225e9e92265_0_3">
            <a:extLst>
              <a:ext uri="{FF2B5EF4-FFF2-40B4-BE49-F238E27FC236}">
                <a16:creationId xmlns:a16="http://schemas.microsoft.com/office/drawing/2014/main" id="{CB280F4D-6B45-84CE-58C0-0C81E2FB835D}"/>
              </a:ext>
            </a:extLst>
          </p:cNvPr>
          <p:cNvSpPr/>
          <p:nvPr/>
        </p:nvSpPr>
        <p:spPr>
          <a:xfrm>
            <a:off x="10034750" y="5750300"/>
            <a:ext cx="1708533" cy="670757"/>
          </a:xfrm>
          <a:custGeom>
            <a:avLst/>
            <a:gdLst/>
            <a:ahLst/>
            <a:cxnLst/>
            <a:rect l="l" t="t" r="r" b="b"/>
            <a:pathLst>
              <a:path w="2559600" h="1004880" extrusionOk="0">
                <a:moveTo>
                  <a:pt x="0" y="0"/>
                </a:moveTo>
                <a:lnTo>
                  <a:pt x="2559600" y="0"/>
                </a:lnTo>
                <a:lnTo>
                  <a:pt x="2559600" y="1004880"/>
                </a:lnTo>
                <a:lnTo>
                  <a:pt x="0" y="1004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4820C3F-5D66-FBB0-1B3C-4B2E82A43744}"/>
              </a:ext>
            </a:extLst>
          </p:cNvPr>
          <p:cNvSpPr/>
          <p:nvPr/>
        </p:nvSpPr>
        <p:spPr>
          <a:xfrm>
            <a:off x="643468" y="285135"/>
            <a:ext cx="5108404" cy="5299588"/>
          </a:xfrm>
          <a:prstGeom prst="rect">
            <a:avLst/>
          </a:prstGeom>
          <a:noFill/>
          <a:ln w="57150" cap="flat" cmpd="sng" algn="ctr">
            <a:solidFill>
              <a:srgbClr val="4949E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132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E6018-6F48-5892-03E7-246142D5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1477919"/>
          </a:xfrm>
        </p:spPr>
        <p:txBody>
          <a:bodyPr anchor="b">
            <a:normAutofit/>
          </a:bodyPr>
          <a:lstStyle/>
          <a:p>
            <a:pPr algn="r"/>
            <a:r>
              <a:rPr lang="en-CA" sz="4000" dirty="0">
                <a:solidFill>
                  <a:srgbClr val="FFFFFF"/>
                </a:solidFill>
              </a:rPr>
              <a:t>Questions to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4B67B-967B-DE0F-853B-FA92BCD04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CA" sz="1300" b="1"/>
              <a:t>Cost &amp; Economics</a:t>
            </a:r>
            <a:br>
              <a:rPr lang="en-CA" sz="1300"/>
            </a:br>
            <a:r>
              <a:rPr lang="en-CA" sz="1300"/>
              <a:t>Estimate and/or benchmark: </a:t>
            </a:r>
          </a:p>
          <a:p>
            <a:pPr lvl="1"/>
            <a:r>
              <a:rPr lang="en-CA" sz="1300"/>
              <a:t>CAPEX and O&amp;M costs for distributed solar </a:t>
            </a:r>
          </a:p>
          <a:p>
            <a:pPr lvl="1"/>
            <a:r>
              <a:rPr lang="en-CA" sz="1300"/>
              <a:t>Utility and grid charges </a:t>
            </a:r>
          </a:p>
          <a:p>
            <a:pPr lvl="1"/>
            <a:r>
              <a:rPr lang="en-CA" sz="1300"/>
              <a:t>Comparative cost structures across generation types (e.g., small/large solar, wind, CCGT, gas) </a:t>
            </a:r>
          </a:p>
          <a:p>
            <a:pPr lvl="0"/>
            <a:r>
              <a:rPr lang="en-CA" sz="1300" b="1"/>
              <a:t>Grid Access &amp; Queue Dynamics</a:t>
            </a:r>
            <a:r>
              <a:rPr lang="en-CA" sz="1300"/>
              <a:t> </a:t>
            </a:r>
          </a:p>
          <a:p>
            <a:pPr lvl="1"/>
            <a:r>
              <a:rPr lang="en-CA" sz="1300"/>
              <a:t>Average grid interconnection wait times </a:t>
            </a:r>
          </a:p>
          <a:p>
            <a:pPr lvl="1"/>
            <a:r>
              <a:rPr lang="en-CA" sz="1300"/>
              <a:t>Regional variation in grid congestion or accessibility </a:t>
            </a:r>
          </a:p>
          <a:p>
            <a:pPr lvl="0"/>
            <a:r>
              <a:rPr lang="en-CA" sz="1300" b="1"/>
              <a:t>Subsidies, Incentives &amp; Policy Support</a:t>
            </a:r>
            <a:r>
              <a:rPr lang="en-CA" sz="1300"/>
              <a:t> </a:t>
            </a:r>
          </a:p>
          <a:p>
            <a:pPr lvl="1"/>
            <a:r>
              <a:rPr lang="en-CA" sz="1300"/>
              <a:t>Net metering policies </a:t>
            </a:r>
          </a:p>
          <a:p>
            <a:pPr lvl="1"/>
            <a:r>
              <a:rPr lang="en-CA" sz="1300"/>
              <a:t>Solar-specific subsidies, grants, or tax incentives </a:t>
            </a:r>
          </a:p>
          <a:p>
            <a:pPr lvl="0"/>
            <a:r>
              <a:rPr lang="en-CA" sz="1300" b="1"/>
              <a:t>Utility Standards &amp; Obligations</a:t>
            </a:r>
            <a:r>
              <a:rPr lang="en-CA" sz="1300"/>
              <a:t> </a:t>
            </a:r>
          </a:p>
          <a:p>
            <a:pPr lvl="1"/>
            <a:r>
              <a:rPr lang="en-CA" sz="1300"/>
              <a:t>Renewable Portfolio Standards (RPS) or equivalent mandates </a:t>
            </a:r>
          </a:p>
          <a:p>
            <a:pPr lvl="1"/>
            <a:r>
              <a:rPr lang="en-CA" sz="1300"/>
              <a:t>Utility obligations to procure renewable energy </a:t>
            </a:r>
          </a:p>
          <a:p>
            <a:pPr lvl="0"/>
            <a:r>
              <a:rPr lang="en-CA" sz="1300" b="1"/>
              <a:t>Public Comment &amp; Approval Signals</a:t>
            </a:r>
            <a:r>
              <a:rPr lang="en-CA" sz="1300"/>
              <a:t> </a:t>
            </a:r>
          </a:p>
          <a:p>
            <a:pPr lvl="1"/>
            <a:r>
              <a:rPr lang="en-CA" sz="1300"/>
              <a:t>Key themes, objections, or concerns raised during project approval processes </a:t>
            </a:r>
          </a:p>
          <a:p>
            <a:pPr lvl="1"/>
            <a:r>
              <a:rPr lang="en-CA" sz="1300"/>
              <a:t>Insights derived even from unstructured or incomplete records </a:t>
            </a:r>
          </a:p>
          <a:p>
            <a:pPr lvl="0"/>
            <a:r>
              <a:rPr lang="en-CA" sz="1300" b="1"/>
              <a:t>Unknown Unknowns (Discovery Layer)</a:t>
            </a:r>
            <a:r>
              <a:rPr lang="en-CA" sz="1300"/>
              <a:t> </a:t>
            </a:r>
          </a:p>
          <a:p>
            <a:pPr lvl="1"/>
            <a:r>
              <a:rPr lang="en-CA" sz="1300"/>
              <a:t>Surface </a:t>
            </a:r>
            <a:r>
              <a:rPr lang="en-CA" sz="1300" b="1"/>
              <a:t>country-specific risks or constraints</a:t>
            </a:r>
            <a:r>
              <a:rPr lang="en-CA" sz="1300"/>
              <a:t> not explicitly defined above </a:t>
            </a:r>
          </a:p>
          <a:p>
            <a:pPr lvl="1"/>
            <a:r>
              <a:rPr lang="en-CA" sz="1300"/>
              <a:t>Examples may include energy access gaps, land-use conflicts, financing barriers, or regulatory bottlenecks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B27567-FBDB-3517-CD6C-0D394F11834E}"/>
              </a:ext>
            </a:extLst>
          </p:cNvPr>
          <p:cNvSpPr txBox="1">
            <a:spLocks/>
          </p:cNvSpPr>
          <p:nvPr/>
        </p:nvSpPr>
        <p:spPr>
          <a:xfrm>
            <a:off x="-3057" y="4793226"/>
            <a:ext cx="4040879" cy="14779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4000" dirty="0">
                <a:solidFill>
                  <a:srgbClr val="FFFFFF"/>
                </a:solidFill>
              </a:rPr>
              <a:t>Key Point: </a:t>
            </a:r>
          </a:p>
          <a:p>
            <a:pPr algn="ctr"/>
            <a:r>
              <a:rPr lang="en-CA" sz="4000" dirty="0">
                <a:solidFill>
                  <a:srgbClr val="FFFF00"/>
                </a:solidFill>
              </a:rPr>
              <a:t>Understand distributions!</a:t>
            </a:r>
            <a:r>
              <a:rPr lang="en-CA" sz="4000" dirty="0">
                <a:solidFill>
                  <a:srgbClr val="FFFFFF"/>
                </a:solidFill>
              </a:rPr>
              <a:t> </a:t>
            </a:r>
          </a:p>
          <a:p>
            <a:pPr algn="ctr"/>
            <a:r>
              <a:rPr lang="en-CA" sz="4000" dirty="0">
                <a:solidFill>
                  <a:srgbClr val="FFFFFF"/>
                </a:solidFill>
              </a:rPr>
              <a:t>(e.g., State-wise, urban-rural)</a:t>
            </a:r>
          </a:p>
        </p:txBody>
      </p:sp>
    </p:spTree>
    <p:extLst>
      <p:ext uri="{BB962C8B-B14F-4D97-AF65-F5344CB8AC3E}">
        <p14:creationId xmlns:p14="http://schemas.microsoft.com/office/powerpoint/2010/main" val="174984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AE938-77BC-87EA-8B2F-C5BE9B44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76A03C7-472D-387A-E043-632152C67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E28C09-7DDA-5562-83F7-0784AF0C4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C1CCA4-8D79-A51D-39FD-19727AB64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FC7235-C005-A517-E0E5-33761475E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2420B14-B6C6-DFE5-82CD-E9CCF8078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3FC3AE-FA13-3AAB-720F-2D5057458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1ACC3-F417-0CA3-E980-C398A5D11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683756"/>
            <a:ext cx="3259291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3700" dirty="0">
                <a:solidFill>
                  <a:srgbClr val="FFFFFF"/>
                </a:solidFill>
              </a:rPr>
              <a:t>READY TO GO!</a:t>
            </a:r>
          </a:p>
        </p:txBody>
      </p:sp>
      <p:sp>
        <p:nvSpPr>
          <p:cNvPr id="4" name="Google Shape;331;g225e9e92265_0_3">
            <a:extLst>
              <a:ext uri="{FF2B5EF4-FFF2-40B4-BE49-F238E27FC236}">
                <a16:creationId xmlns:a16="http://schemas.microsoft.com/office/drawing/2014/main" id="{B5B92F69-FE2C-1374-E639-A96687A0E263}"/>
              </a:ext>
            </a:extLst>
          </p:cNvPr>
          <p:cNvSpPr/>
          <p:nvPr/>
        </p:nvSpPr>
        <p:spPr>
          <a:xfrm>
            <a:off x="10034750" y="5750300"/>
            <a:ext cx="1708533" cy="670757"/>
          </a:xfrm>
          <a:custGeom>
            <a:avLst/>
            <a:gdLst/>
            <a:ahLst/>
            <a:cxnLst/>
            <a:rect l="l" t="t" r="r" b="b"/>
            <a:pathLst>
              <a:path w="2559600" h="1004880" extrusionOk="0">
                <a:moveTo>
                  <a:pt x="0" y="0"/>
                </a:moveTo>
                <a:lnTo>
                  <a:pt x="2559600" y="0"/>
                </a:lnTo>
                <a:lnTo>
                  <a:pt x="2559600" y="1004880"/>
                </a:lnTo>
                <a:lnTo>
                  <a:pt x="0" y="1004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534973B-1745-87D3-B5D7-D15BA38A0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425270"/>
              </p:ext>
            </p:extLst>
          </p:nvPr>
        </p:nvGraphicFramePr>
        <p:xfrm>
          <a:off x="4905052" y="14819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4151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309</Words>
  <Application>Microsoft Office PowerPoint</Application>
  <PresentationFormat>Widescreen</PresentationFormat>
  <Paragraphs>52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Agency FB</vt:lpstr>
      <vt:lpstr>Aptos</vt:lpstr>
      <vt:lpstr>Aptos Display</vt:lpstr>
      <vt:lpstr>Arial</vt:lpstr>
      <vt:lpstr>Office Theme</vt:lpstr>
      <vt:lpstr>NE Hackathon: Introduction to the problem</vt:lpstr>
      <vt:lpstr>BACKGROUND</vt:lpstr>
      <vt:lpstr>PowerPoint Presentation</vt:lpstr>
      <vt:lpstr>What it takes to contract with a site?</vt:lpstr>
      <vt:lpstr>Questions to Address</vt:lpstr>
      <vt:lpstr>READY TO GO!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Naik</dc:creator>
  <cp:lastModifiedBy>Kartik Naik</cp:lastModifiedBy>
  <cp:revision>1</cp:revision>
  <dcterms:created xsi:type="dcterms:W3CDTF">2026-04-10T17:45:08Z</dcterms:created>
  <dcterms:modified xsi:type="dcterms:W3CDTF">2026-04-10T18:39:47Z</dcterms:modified>
</cp:coreProperties>
</file>